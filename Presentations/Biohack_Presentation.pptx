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6"/>
  </p:notesMasterIdLst>
  <p:sldIdLst>
    <p:sldId id="256" r:id="rId2"/>
    <p:sldId id="259" r:id="rId3"/>
    <p:sldId id="260" r:id="rId4"/>
    <p:sldId id="263" r:id="rId5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F1B300"/>
    <a:srgbClr val="FFC100"/>
    <a:srgbClr val="F0B200"/>
    <a:srgbClr val="FF9900"/>
    <a:srgbClr val="6E8671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9303"/>
    <p:restoredTop sz="94681"/>
  </p:normalViewPr>
  <p:slideViewPr>
    <p:cSldViewPr snapToGrid="0">
      <p:cViewPr varScale="1">
        <p:scale>
          <a:sx n="116" d="100"/>
          <a:sy n="116" d="100"/>
        </p:scale>
        <p:origin x="208" y="17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notesMaster" Target="notesMasters/notesMaster1.xml"/><Relationship Id="rId5" Type="http://schemas.openxmlformats.org/officeDocument/2006/relationships/slide" Target="slides/slide4.xml"/><Relationship Id="rId10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GB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8301C9AE-452B-6A4F-A325-6588847E397A}" type="datetimeFigureOut">
              <a:rPr lang="en-GB" smtClean="0"/>
              <a:t>21/03/2026</a:t>
            </a:fld>
            <a:endParaRPr lang="en-GB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GB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GB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E58D555A-2839-854B-83C7-511BB0DDFA80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480522042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GB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58D555A-2839-854B-83C7-511BB0DDFA80}" type="slidenum">
              <a:rPr lang="en-GB" smtClean="0"/>
              <a:t>3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234496574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7C23922-1969-8F4A-13AA-CBBCBB6422DE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90C2752D-74B7-B374-A88C-3D0FC4D7A808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GB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A1BDFE0-462C-87D6-CAEF-59E9066A1AF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A76BDBC-429E-644A-84DE-6C6120CFE7B2}" type="datetimeFigureOut">
              <a:rPr lang="en-GB" smtClean="0"/>
              <a:t>21/03/2026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6A39928-CE69-CA9B-CB6B-6AA0CF86E56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392FFB0-D4FC-7B15-97FA-68A3E11F30D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92658DA-CA82-5444-824C-129A6B6329EB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88482293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647939A-EF6C-0379-E173-48B072471AD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7D20102-C12B-B02C-A0FD-599AE684390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53AE9A3-0714-1CF1-2C74-38B96CC2F2C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A76BDBC-429E-644A-84DE-6C6120CFE7B2}" type="datetimeFigureOut">
              <a:rPr lang="en-GB" smtClean="0"/>
              <a:t>21/03/2026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E8DE19A-88B2-E7DA-AE09-44AA1307CC4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B07A23D-640D-2EFB-BE65-BE5788C1001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92658DA-CA82-5444-824C-129A6B6329EB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6276820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A312A8B-4D0A-0E8E-30B6-832D01560F8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DC83F039-532C-CD0F-9089-AAFA7B85AF7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A5B4CA2-6C9D-3845-E58E-B35D26684C6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A76BDBC-429E-644A-84DE-6C6120CFE7B2}" type="datetimeFigureOut">
              <a:rPr lang="en-GB" smtClean="0"/>
              <a:t>21/03/2026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F38D3D8-77C0-25AB-C8BC-EB6599CFE8C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E801242-B7B0-D0B7-8F29-9CD12445B0E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92658DA-CA82-5444-824C-129A6B6329EB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80470282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8A59326-913E-07D1-13FD-5E2CA9D146B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CF753B2-5E93-3125-6F38-D69BBFA24A84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4AF404B1-2096-BC3B-E8F7-976977B13C9F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CF70399-07EC-2B9F-389C-5DFA6D7B8A8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A76BDBC-429E-644A-84DE-6C6120CFE7B2}" type="datetimeFigureOut">
              <a:rPr lang="en-GB" smtClean="0"/>
              <a:t>21/03/2026</a:t>
            </a:fld>
            <a:endParaRPr lang="en-GB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A06A5B5E-A5BD-7A51-147B-8AD204ECDCB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7CDBD10E-C646-DF0F-F32E-B9CA1B8570C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92658DA-CA82-5444-824C-129A6B6329EB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47855339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C1D671F-F86A-5B27-F271-26F70E750BA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9105A242-5F28-3922-3A7F-5FD915A2C03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55E8B994-5889-CEC3-1EDB-28380E1C6859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8C38B2BF-02B1-B7D0-B3D8-AB1E0B98D069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D3DD57E5-CC36-380A-61FF-E3B8D7BBC746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BA292274-1925-F5B6-840D-71295C74588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A76BDBC-429E-644A-84DE-6C6120CFE7B2}" type="datetimeFigureOut">
              <a:rPr lang="en-GB" smtClean="0"/>
              <a:t>21/03/2026</a:t>
            </a:fld>
            <a:endParaRPr lang="en-GB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9743605A-6DB2-3FF2-03B6-AE6A7B70BCA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640CB63B-1562-1B5F-4A96-6DEC1D75081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92658DA-CA82-5444-824C-129A6B6329EB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85867952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E3D3C62-324A-2095-D683-C052C0EE7C0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CA871F0B-DE05-07CB-5F94-FBC80F4A3D0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A76BDBC-429E-644A-84DE-6C6120CFE7B2}" type="datetimeFigureOut">
              <a:rPr lang="en-GB" smtClean="0"/>
              <a:t>21/03/2026</a:t>
            </a:fld>
            <a:endParaRPr lang="en-GB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4A64CC80-0634-DFC4-D38B-195A59D16F7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4494756E-0E38-DF19-7DC1-A090F6C1A04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92658DA-CA82-5444-824C-129A6B6329EB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56503161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1AFB0638-CB16-96F9-3762-2AE4AEF2CC9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A76BDBC-429E-644A-84DE-6C6120CFE7B2}" type="datetimeFigureOut">
              <a:rPr lang="en-GB" smtClean="0"/>
              <a:t>21/03/2026</a:t>
            </a:fld>
            <a:endParaRPr lang="en-GB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795BC2F7-0D6D-19AC-54E2-BCB886AA0AF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5A8C8F54-8171-97F3-DC9E-0E63ADD3A39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92658DA-CA82-5444-824C-129A6B6329EB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92166111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ACD2599-979A-0263-E82F-31CF5BB5A6D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32561A1-3E9C-253E-A7D2-F31272CF08B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3E623C73-B7E4-A3F4-F147-C62619D526C2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110B2589-6FB5-6BAC-42A3-0D8D84B7B8F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A76BDBC-429E-644A-84DE-6C6120CFE7B2}" type="datetimeFigureOut">
              <a:rPr lang="en-GB" smtClean="0"/>
              <a:t>21/03/2026</a:t>
            </a:fld>
            <a:endParaRPr lang="en-GB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52335A20-5E2B-322B-1CD9-CB4378C829A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F7291937-E904-E9D0-9E7E-F1FFC4E7865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92658DA-CA82-5444-824C-129A6B6329EB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61901063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99F7CA8-5789-C5FA-7FC1-B56D0D2EBD6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8B6AA27D-DF7A-407C-11F4-7A2095C8AA92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GB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D3B647AD-E99B-5A27-E439-0BC73E83A25D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79978A50-07B5-8EB4-BC33-3D6DA2D7BBB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A76BDBC-429E-644A-84DE-6C6120CFE7B2}" type="datetimeFigureOut">
              <a:rPr lang="en-GB" smtClean="0"/>
              <a:t>21/03/2026</a:t>
            </a:fld>
            <a:endParaRPr lang="en-GB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A9E80EEF-FE31-483D-7BF7-47DB3C83F77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7143F980-710C-2DFC-95F3-3096F7ED51F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92658DA-CA82-5444-824C-129A6B6329EB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8473487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19A1CDF-BE4B-0E1C-A081-173FA21EEDA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7B18ACB9-3A31-A3CC-2464-63BDFC42F5FD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661B7CA-171E-BD5C-FA70-83958984D23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A76BDBC-429E-644A-84DE-6C6120CFE7B2}" type="datetimeFigureOut">
              <a:rPr lang="en-GB" smtClean="0"/>
              <a:t>21/03/2026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EC3EF69-A68D-F41D-A4F4-B002DB4D567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C8814F5-1353-275D-6795-F9DC792A237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92658DA-CA82-5444-824C-129A6B6329EB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99792424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120BE2CC-9F3C-7483-1708-0E125871704E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CDF521F9-7AA2-ABB9-7B3C-756D143430FE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DC95E08-A4F6-3DC9-FDB0-3B7C187B2A9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A76BDBC-429E-644A-84DE-6C6120CFE7B2}" type="datetimeFigureOut">
              <a:rPr lang="en-GB" smtClean="0"/>
              <a:t>21/03/2026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49FD8B2-A399-223D-3A37-0D941D68E84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91A3D28-E475-0FD9-B35C-689958228D8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92658DA-CA82-5444-824C-129A6B6329EB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72136325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gradFill flip="none" rotWithShape="1">
          <a:gsLst>
            <a:gs pos="15000">
              <a:srgbClr val="F0B200"/>
            </a:gs>
            <a:gs pos="85000">
              <a:srgbClr val="F1B300"/>
            </a:gs>
            <a:gs pos="50000">
              <a:srgbClr val="00B050"/>
            </a:gs>
          </a:gsLst>
          <a:lin ang="5400000" scaled="1"/>
          <a:tileRect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89023A0F-CBE7-D824-F414-45B0F27C810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2B4E2B4F-2203-4211-AAA9-5AF1E8E3270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44A4A32-CCB9-A5DF-B235-76B8B5BF21E7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0A76BDBC-429E-644A-84DE-6C6120CFE7B2}" type="datetimeFigureOut">
              <a:rPr lang="en-GB" smtClean="0"/>
              <a:t>21/03/2026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C6614B7-B127-1799-7237-9E8086DDF7B5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566AC54-CBAA-8C8F-7F77-34C40BF3B80A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B92658DA-CA82-5444-824C-129A6B6329EB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94129381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3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sv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2.svg"/><Relationship Id="rId4" Type="http://schemas.openxmlformats.org/officeDocument/2006/relationships/image" Target="../media/image1.png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 flip="none" rotWithShape="1">
          <a:gsLst>
            <a:gs pos="40000">
              <a:srgbClr val="F0B200"/>
            </a:gs>
            <a:gs pos="65000">
              <a:srgbClr val="F1B300"/>
            </a:gs>
            <a:gs pos="50000">
              <a:srgbClr val="00B050"/>
            </a:gs>
          </a:gsLst>
          <a:lin ang="5400000" scaled="1"/>
          <a:tileRect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Graphic 4">
            <a:extLst>
              <a:ext uri="{FF2B5EF4-FFF2-40B4-BE49-F238E27FC236}">
                <a16:creationId xmlns:a16="http://schemas.microsoft.com/office/drawing/2014/main" id="{DCF15EAB-D3DF-0C93-3065-535C0B49AC6B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 rot="19711490">
            <a:off x="2068870" y="598579"/>
            <a:ext cx="2652765" cy="1277257"/>
          </a:xfrm>
          <a:prstGeom prst="rect">
            <a:avLst/>
          </a:prstGeom>
        </p:spPr>
      </p:pic>
      <p:pic>
        <p:nvPicPr>
          <p:cNvPr id="6" name="Graphic 5">
            <a:extLst>
              <a:ext uri="{FF2B5EF4-FFF2-40B4-BE49-F238E27FC236}">
                <a16:creationId xmlns:a16="http://schemas.microsoft.com/office/drawing/2014/main" id="{18AB1FB7-C419-C209-6AD3-9204F7483505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 rot="1132521">
            <a:off x="4769618" y="5073580"/>
            <a:ext cx="2652765" cy="1277257"/>
          </a:xfrm>
          <a:prstGeom prst="rect">
            <a:avLst/>
          </a:prstGeom>
        </p:spPr>
      </p:pic>
      <p:pic>
        <p:nvPicPr>
          <p:cNvPr id="7" name="Graphic 6">
            <a:extLst>
              <a:ext uri="{FF2B5EF4-FFF2-40B4-BE49-F238E27FC236}">
                <a16:creationId xmlns:a16="http://schemas.microsoft.com/office/drawing/2014/main" id="{8F27F0DA-0DE7-08B8-A2BA-3F209D3224CF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 rot="13833282">
            <a:off x="8124386" y="1698024"/>
            <a:ext cx="2652765" cy="1277257"/>
          </a:xfrm>
          <a:prstGeom prst="rect">
            <a:avLst/>
          </a:prstGeom>
        </p:spPr>
      </p:pic>
      <p:sp>
        <p:nvSpPr>
          <p:cNvPr id="8" name="Can 7">
            <a:extLst>
              <a:ext uri="{FF2B5EF4-FFF2-40B4-BE49-F238E27FC236}">
                <a16:creationId xmlns:a16="http://schemas.microsoft.com/office/drawing/2014/main" id="{130D24E4-ADC2-1D86-FB4B-AB8018207534}"/>
              </a:ext>
            </a:extLst>
          </p:cNvPr>
          <p:cNvSpPr/>
          <p:nvPr/>
        </p:nvSpPr>
        <p:spPr>
          <a:xfrm rot="2900441">
            <a:off x="3046470" y="929009"/>
            <a:ext cx="159657" cy="888773"/>
          </a:xfrm>
          <a:prstGeom prst="can">
            <a:avLst/>
          </a:prstGeom>
          <a:solidFill>
            <a:schemeClr val="accent3">
              <a:lumMod val="5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9" name="Can 8">
            <a:extLst>
              <a:ext uri="{FF2B5EF4-FFF2-40B4-BE49-F238E27FC236}">
                <a16:creationId xmlns:a16="http://schemas.microsoft.com/office/drawing/2014/main" id="{00BC8E82-4439-59E9-77C0-E7FCB0442777}"/>
              </a:ext>
            </a:extLst>
          </p:cNvPr>
          <p:cNvSpPr/>
          <p:nvPr/>
        </p:nvSpPr>
        <p:spPr>
          <a:xfrm rot="6029648">
            <a:off x="5624507" y="5512551"/>
            <a:ext cx="159657" cy="287124"/>
          </a:xfrm>
          <a:prstGeom prst="can">
            <a:avLst>
              <a:gd name="adj" fmla="val 278338"/>
            </a:avLst>
          </a:prstGeom>
          <a:solidFill>
            <a:schemeClr val="accent3">
              <a:lumMod val="5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13" name="Oval 12">
            <a:extLst>
              <a:ext uri="{FF2B5EF4-FFF2-40B4-BE49-F238E27FC236}">
                <a16:creationId xmlns:a16="http://schemas.microsoft.com/office/drawing/2014/main" id="{2EFFDBD7-8F2A-21F8-CF1E-2C6EAC28AE78}"/>
              </a:ext>
            </a:extLst>
          </p:cNvPr>
          <p:cNvSpPr/>
          <p:nvPr/>
        </p:nvSpPr>
        <p:spPr>
          <a:xfrm>
            <a:off x="9548645" y="2398666"/>
            <a:ext cx="155701" cy="155701"/>
          </a:xfrm>
          <a:prstGeom prst="ellipse">
            <a:avLst/>
          </a:prstGeom>
          <a:solidFill>
            <a:srgbClr val="6E867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14" name="Title 13">
            <a:extLst>
              <a:ext uri="{FF2B5EF4-FFF2-40B4-BE49-F238E27FC236}">
                <a16:creationId xmlns:a16="http://schemas.microsoft.com/office/drawing/2014/main" id="{110106DD-8674-0036-7B7C-53A0F1B96FA7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2931982"/>
            <a:ext cx="9144000" cy="1369228"/>
          </a:xfrm>
        </p:spPr>
        <p:txBody>
          <a:bodyPr anchor="ctr" anchorCtr="0"/>
          <a:lstStyle/>
          <a:p>
            <a:r>
              <a:rPr lang="en-GB" dirty="0">
                <a:latin typeface="Arial" panose="020B0604020202020204" pitchFamily="34" charset="0"/>
                <a:cs typeface="Arial" panose="020B0604020202020204" pitchFamily="34" charset="0"/>
              </a:rPr>
              <a:t>The Fillies</a:t>
            </a:r>
          </a:p>
        </p:txBody>
      </p:sp>
      <p:pic>
        <p:nvPicPr>
          <p:cNvPr id="20" name="Picture 19" descr="A cartoon of a green monster&#10;&#10;AI-generated content may be incorrect.">
            <a:extLst>
              <a:ext uri="{FF2B5EF4-FFF2-40B4-BE49-F238E27FC236}">
                <a16:creationId xmlns:a16="http://schemas.microsoft.com/office/drawing/2014/main" id="{B18B0D56-3D42-425D-365F-AF83EA544EE1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39375" y="2487983"/>
            <a:ext cx="2569248" cy="200960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08118582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7CD5F11-A768-5A10-42CE-0D702038066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Graphic 5">
            <a:extLst>
              <a:ext uri="{FF2B5EF4-FFF2-40B4-BE49-F238E27FC236}">
                <a16:creationId xmlns:a16="http://schemas.microsoft.com/office/drawing/2014/main" id="{32CD6354-78BD-8BF3-3E51-9E2ED6516F2B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9532403" y="2934168"/>
            <a:ext cx="1821396" cy="3122393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2AE88FB6-6C3D-7521-FB53-FCF5BCBC6AA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>
                <a:latin typeface="Arial" panose="020B0604020202020204" pitchFamily="34" charset="0"/>
                <a:cs typeface="Arial" panose="020B0604020202020204" pitchFamily="34" charset="0"/>
              </a:rPr>
              <a:t>Problem</a:t>
            </a:r>
          </a:p>
        </p:txBody>
      </p:sp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1D1836D0-989F-5662-DE46-B0ACFDE2BFA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7138012" cy="4351338"/>
          </a:xfrm>
        </p:spPr>
        <p:txBody>
          <a:bodyPr>
            <a:normAutofit/>
          </a:bodyPr>
          <a:lstStyle/>
          <a:p>
            <a:r>
              <a:rPr lang="en-GB" sz="2600" dirty="0">
                <a:latin typeface="Arial" panose="020B0604020202020204" pitchFamily="34" charset="0"/>
                <a:cs typeface="Arial" panose="020B0604020202020204" pitchFamily="34" charset="0"/>
              </a:rPr>
              <a:t>Need to track intracellular structures</a:t>
            </a:r>
          </a:p>
          <a:p>
            <a:r>
              <a:rPr lang="en-GB" sz="2600" dirty="0">
                <a:latin typeface="Arial" panose="020B0604020202020204" pitchFamily="34" charset="0"/>
                <a:cs typeface="Arial" panose="020B0604020202020204" pitchFamily="34" charset="0"/>
              </a:rPr>
              <a:t>Tracking protein aggregates is relevant to:</a:t>
            </a:r>
          </a:p>
          <a:p>
            <a:pPr lvl="1"/>
            <a:r>
              <a:rPr lang="en-GB" sz="2600" dirty="0">
                <a:latin typeface="Arial" panose="020B0604020202020204" pitchFamily="34" charset="0"/>
                <a:cs typeface="Arial" panose="020B0604020202020204" pitchFamily="34" charset="0"/>
              </a:rPr>
              <a:t>Cellular survival in stress and starvation</a:t>
            </a:r>
          </a:p>
          <a:p>
            <a:pPr lvl="1"/>
            <a:r>
              <a:rPr lang="en-GB" sz="2600" dirty="0">
                <a:latin typeface="Arial" panose="020B0604020202020204" pitchFamily="34" charset="0"/>
                <a:cs typeface="Arial" panose="020B0604020202020204" pitchFamily="34" charset="0"/>
              </a:rPr>
              <a:t>Neurodegenerative diseases</a:t>
            </a:r>
          </a:p>
          <a:p>
            <a:pPr lvl="1"/>
            <a:r>
              <a:rPr lang="en-GB" sz="2600" dirty="0">
                <a:latin typeface="Arial" panose="020B0604020202020204" pitchFamily="34" charset="0"/>
                <a:cs typeface="Arial" panose="020B0604020202020204" pitchFamily="34" charset="0"/>
              </a:rPr>
              <a:t>Cell motility</a:t>
            </a:r>
          </a:p>
          <a:p>
            <a:pPr lvl="1"/>
            <a:r>
              <a:rPr lang="en-GB" sz="2600" dirty="0">
                <a:latin typeface="Arial" panose="020B0604020202020204" pitchFamily="34" charset="0"/>
                <a:cs typeface="Arial" panose="020B0604020202020204" pitchFamily="34" charset="0"/>
              </a:rPr>
              <a:t>Structural integrity</a:t>
            </a:r>
            <a:endParaRPr lang="en-GB" sz="2600" dirty="0"/>
          </a:p>
        </p:txBody>
      </p:sp>
      <p:pic>
        <p:nvPicPr>
          <p:cNvPr id="3" name="Graphic 2">
            <a:extLst>
              <a:ext uri="{FF2B5EF4-FFF2-40B4-BE49-F238E27FC236}">
                <a16:creationId xmlns:a16="http://schemas.microsoft.com/office/drawing/2014/main" id="{320577D4-B5F7-1AEF-4099-B5F16B386EDA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 rot="19711490">
            <a:off x="8015383" y="1045674"/>
            <a:ext cx="3697428" cy="1780243"/>
          </a:xfrm>
          <a:prstGeom prst="rect">
            <a:avLst/>
          </a:prstGeom>
        </p:spPr>
      </p:pic>
      <p:sp>
        <p:nvSpPr>
          <p:cNvPr id="4" name="Can 3">
            <a:extLst>
              <a:ext uri="{FF2B5EF4-FFF2-40B4-BE49-F238E27FC236}">
                <a16:creationId xmlns:a16="http://schemas.microsoft.com/office/drawing/2014/main" id="{F96FCEA3-9491-718D-84F2-50EB477AB171}"/>
              </a:ext>
            </a:extLst>
          </p:cNvPr>
          <p:cNvSpPr/>
          <p:nvPr/>
        </p:nvSpPr>
        <p:spPr>
          <a:xfrm rot="2900441">
            <a:off x="9337147" y="1539021"/>
            <a:ext cx="222530" cy="1238772"/>
          </a:xfrm>
          <a:prstGeom prst="can">
            <a:avLst/>
          </a:prstGeom>
          <a:solidFill>
            <a:schemeClr val="accent3">
              <a:lumMod val="5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8157A912-CDC8-4411-3876-B0B31C552FB6}"/>
              </a:ext>
            </a:extLst>
          </p:cNvPr>
          <p:cNvSpPr txBox="1"/>
          <p:nvPr/>
        </p:nvSpPr>
        <p:spPr>
          <a:xfrm>
            <a:off x="6505016" y="6457890"/>
            <a:ext cx="6098240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GB" sz="1000" dirty="0">
                <a:latin typeface="Arial" panose="020B0604020202020204" pitchFamily="34" charset="0"/>
                <a:cs typeface="Arial" panose="020B0604020202020204" pitchFamily="34" charset="0"/>
              </a:rPr>
              <a:t>cell-intermediate-filament icon by Servier https://</a:t>
            </a:r>
            <a:r>
              <a:rPr lang="en-GB" sz="1000" dirty="0" err="1">
                <a:latin typeface="Arial" panose="020B0604020202020204" pitchFamily="34" charset="0"/>
                <a:cs typeface="Arial" panose="020B0604020202020204" pitchFamily="34" charset="0"/>
              </a:rPr>
              <a:t>smart.servier.com</a:t>
            </a:r>
            <a:r>
              <a:rPr lang="en-GB" sz="1000" dirty="0">
                <a:latin typeface="Arial" panose="020B0604020202020204" pitchFamily="34" charset="0"/>
                <a:cs typeface="Arial" panose="020B0604020202020204" pitchFamily="34" charset="0"/>
              </a:rPr>
              <a:t>/ is licensed under CC-BY 3.0 </a:t>
            </a:r>
            <a:r>
              <a:rPr lang="en-GB" sz="1000" dirty="0" err="1">
                <a:latin typeface="Arial" panose="020B0604020202020204" pitchFamily="34" charset="0"/>
                <a:cs typeface="Arial" panose="020B0604020202020204" pitchFamily="34" charset="0"/>
              </a:rPr>
              <a:t>Unported</a:t>
            </a:r>
            <a:r>
              <a:rPr lang="en-GB" sz="1000" dirty="0">
                <a:latin typeface="Arial" panose="020B0604020202020204" pitchFamily="34" charset="0"/>
                <a:cs typeface="Arial" panose="020B0604020202020204" pitchFamily="34" charset="0"/>
              </a:rPr>
              <a:t> https://</a:t>
            </a:r>
            <a:r>
              <a:rPr lang="en-GB" sz="1000" dirty="0" err="1">
                <a:latin typeface="Arial" panose="020B0604020202020204" pitchFamily="34" charset="0"/>
                <a:cs typeface="Arial" panose="020B0604020202020204" pitchFamily="34" charset="0"/>
              </a:rPr>
              <a:t>creativecommons.org</a:t>
            </a:r>
            <a:r>
              <a:rPr lang="en-GB" sz="1000" dirty="0">
                <a:latin typeface="Arial" panose="020B0604020202020204" pitchFamily="34" charset="0"/>
                <a:cs typeface="Arial" panose="020B0604020202020204" pitchFamily="34" charset="0"/>
              </a:rPr>
              <a:t>/licenses/by/3.0/</a:t>
            </a:r>
          </a:p>
        </p:txBody>
      </p:sp>
    </p:spTree>
    <p:extLst>
      <p:ext uri="{BB962C8B-B14F-4D97-AF65-F5344CB8AC3E}">
        <p14:creationId xmlns:p14="http://schemas.microsoft.com/office/powerpoint/2010/main" val="312107880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532786F-F27C-C744-9864-4E298550FFD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61C19C0-C110-A351-629C-E1E8AA8BE3D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>
                <a:latin typeface="Arial" panose="020B0604020202020204" pitchFamily="34" charset="0"/>
                <a:cs typeface="Arial" panose="020B0604020202020204" pitchFamily="34" charset="0"/>
              </a:rPr>
              <a:t>Models Key Capabilities</a:t>
            </a:r>
          </a:p>
        </p:txBody>
      </p:sp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3C374129-1045-D799-1D8D-A1AB4BD44FB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5584634" cy="4351338"/>
          </a:xfrm>
        </p:spPr>
        <p:txBody>
          <a:bodyPr>
            <a:noAutofit/>
          </a:bodyPr>
          <a:lstStyle/>
          <a:p>
            <a:r>
              <a:rPr lang="en-GB" sz="2600" dirty="0">
                <a:latin typeface="Arial" panose="020B0604020202020204" pitchFamily="34" charset="0"/>
                <a:cs typeface="Arial" panose="020B0604020202020204" pitchFamily="34" charset="0"/>
              </a:rPr>
              <a:t>Easy interface to upload images and extract data</a:t>
            </a:r>
          </a:p>
          <a:p>
            <a:r>
              <a:rPr lang="en-GB" sz="2600" dirty="0">
                <a:latin typeface="Arial" panose="020B0604020202020204" pitchFamily="34" charset="0"/>
                <a:cs typeface="Arial" panose="020B0604020202020204" pitchFamily="34" charset="0"/>
              </a:rPr>
              <a:t>Inputs entire field of view, no manual cropping required</a:t>
            </a:r>
          </a:p>
          <a:p>
            <a:r>
              <a:rPr lang="en-GB" sz="2600" dirty="0">
                <a:latin typeface="Arial" panose="020B0604020202020204" pitchFamily="34" charset="0"/>
                <a:cs typeface="Arial" panose="020B0604020202020204" pitchFamily="34" charset="0"/>
              </a:rPr>
              <a:t>Properly tracks individual filaments</a:t>
            </a:r>
          </a:p>
          <a:p>
            <a:r>
              <a:rPr lang="en-GB" sz="2600" dirty="0">
                <a:latin typeface="Arial" panose="020B0604020202020204" pitchFamily="34" charset="0"/>
                <a:cs typeface="Arial" panose="020B0604020202020204" pitchFamily="34" charset="0"/>
              </a:rPr>
              <a:t>Tested against manual annotation and synthetic data</a:t>
            </a:r>
          </a:p>
          <a:p>
            <a:r>
              <a:rPr lang="en-GB" sz="2600" dirty="0">
                <a:latin typeface="Arial" panose="020B0604020202020204" pitchFamily="34" charset="0"/>
                <a:cs typeface="Arial" panose="020B0604020202020204" pitchFamily="34" charset="0"/>
              </a:rPr>
              <a:t>Outputs csv data and graphs displaying filament growth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352E2DA5-8B5B-D3F0-59C9-CCBC0B93CB94}"/>
              </a:ext>
            </a:extLst>
          </p:cNvPr>
          <p:cNvSpPr txBox="1"/>
          <p:nvPr/>
        </p:nvSpPr>
        <p:spPr>
          <a:xfrm>
            <a:off x="7046205" y="3244334"/>
            <a:ext cx="430759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dirty="0"/>
              <a:t>…Put screenshot of website</a:t>
            </a:r>
          </a:p>
        </p:txBody>
      </p:sp>
    </p:spTree>
    <p:extLst>
      <p:ext uri="{BB962C8B-B14F-4D97-AF65-F5344CB8AC3E}">
        <p14:creationId xmlns:p14="http://schemas.microsoft.com/office/powerpoint/2010/main" val="4247969802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1779D6E-795C-C965-82EC-F1DE9DCDE0A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8A3C8A9-D450-8807-A54C-AA57E806B7B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>
                <a:latin typeface="Arial" panose="020B0604020202020204" pitchFamily="34" charset="0"/>
                <a:cs typeface="Arial" panose="020B0604020202020204" pitchFamily="34" charset="0"/>
              </a:rPr>
              <a:t>Future Directions</a:t>
            </a:r>
          </a:p>
        </p:txBody>
      </p:sp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DD95363B-5978-5C85-B7E3-3E6A9A030E7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6862590" cy="4351338"/>
          </a:xfrm>
        </p:spPr>
        <p:txBody>
          <a:bodyPr>
            <a:normAutofit/>
          </a:bodyPr>
          <a:lstStyle/>
          <a:p>
            <a:r>
              <a:rPr lang="en-GB" sz="2600" dirty="0">
                <a:latin typeface="Arial" panose="020B0604020202020204" pitchFamily="34" charset="0"/>
                <a:cs typeface="Arial" panose="020B0604020202020204" pitchFamily="34" charset="0"/>
              </a:rPr>
              <a:t>Compare filament growth rate in different strains, degrees of starvation and ura7 (filament forming protein) mutations</a:t>
            </a:r>
          </a:p>
          <a:p>
            <a:r>
              <a:rPr lang="en-GB" sz="2600" dirty="0">
                <a:latin typeface="Arial" panose="020B0604020202020204" pitchFamily="34" charset="0"/>
                <a:cs typeface="Arial" panose="020B0604020202020204" pitchFamily="34" charset="0"/>
              </a:rPr>
              <a:t>Using filament association with budding</a:t>
            </a:r>
          </a:p>
          <a:p>
            <a:r>
              <a:rPr lang="en-GB" sz="2600" dirty="0">
                <a:latin typeface="Arial" panose="020B0604020202020204" pitchFamily="34" charset="0"/>
                <a:cs typeface="Arial" panose="020B0604020202020204" pitchFamily="34" charset="0"/>
              </a:rPr>
              <a:t>Use z-stacks to further disentangle filament growth from filament rotation</a:t>
            </a:r>
          </a:p>
          <a:p>
            <a:r>
              <a:rPr lang="en-GB" sz="2600" dirty="0">
                <a:latin typeface="Arial" panose="020B0604020202020204" pitchFamily="34" charset="0"/>
                <a:cs typeface="Arial" panose="020B0604020202020204" pitchFamily="34" charset="0"/>
              </a:rPr>
              <a:t>Applying to situations with multiple filaments</a:t>
            </a:r>
          </a:p>
          <a:p>
            <a:r>
              <a:rPr lang="en-GB" sz="2600" dirty="0">
                <a:latin typeface="Arial" panose="020B0604020202020204" pitchFamily="34" charset="0"/>
                <a:cs typeface="Arial" panose="020B0604020202020204" pitchFamily="34" charset="0"/>
              </a:rPr>
              <a:t>Analysis of other GFP-tagged protein filament structures</a:t>
            </a:r>
          </a:p>
        </p:txBody>
      </p:sp>
      <p:grpSp>
        <p:nvGrpSpPr>
          <p:cNvPr id="3" name="Group 2">
            <a:extLst>
              <a:ext uri="{FF2B5EF4-FFF2-40B4-BE49-F238E27FC236}">
                <a16:creationId xmlns:a16="http://schemas.microsoft.com/office/drawing/2014/main" id="{565911C7-BE4B-B1C9-F5D4-492D20C52EEC}"/>
              </a:ext>
            </a:extLst>
          </p:cNvPr>
          <p:cNvGrpSpPr/>
          <p:nvPr/>
        </p:nvGrpSpPr>
        <p:grpSpPr>
          <a:xfrm>
            <a:off x="8217194" y="2766218"/>
            <a:ext cx="3277879" cy="1325563"/>
            <a:chOff x="3281475" y="3272117"/>
            <a:chExt cx="5453354" cy="2205318"/>
          </a:xfrm>
        </p:grpSpPr>
        <p:sp>
          <p:nvSpPr>
            <p:cNvPr id="4" name="Can 3">
              <a:extLst>
                <a:ext uri="{FF2B5EF4-FFF2-40B4-BE49-F238E27FC236}">
                  <a16:creationId xmlns:a16="http://schemas.microsoft.com/office/drawing/2014/main" id="{8B7E78D0-AAF0-59ED-5071-48D6EBCD12F7}"/>
                </a:ext>
              </a:extLst>
            </p:cNvPr>
            <p:cNvSpPr/>
            <p:nvPr/>
          </p:nvSpPr>
          <p:spPr>
            <a:xfrm rot="2900441">
              <a:off x="7563151" y="2595105"/>
              <a:ext cx="356851" cy="1986504"/>
            </a:xfrm>
            <a:prstGeom prst="can">
              <a:avLst/>
            </a:prstGeom>
            <a:solidFill>
              <a:schemeClr val="accent3">
                <a:lumMod val="50000"/>
              </a:schemeClr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/>
            </a:p>
          </p:txBody>
        </p:sp>
        <p:sp>
          <p:nvSpPr>
            <p:cNvPr id="6" name="Oval 5">
              <a:extLst>
                <a:ext uri="{FF2B5EF4-FFF2-40B4-BE49-F238E27FC236}">
                  <a16:creationId xmlns:a16="http://schemas.microsoft.com/office/drawing/2014/main" id="{8C1FFF08-65DD-DDBF-E792-99B85A1F2DBD}"/>
                </a:ext>
              </a:extLst>
            </p:cNvPr>
            <p:cNvSpPr/>
            <p:nvPr/>
          </p:nvSpPr>
          <p:spPr>
            <a:xfrm>
              <a:off x="3747454" y="3414356"/>
              <a:ext cx="348009" cy="348009"/>
            </a:xfrm>
            <a:prstGeom prst="ellipse">
              <a:avLst/>
            </a:prstGeom>
            <a:solidFill>
              <a:srgbClr val="6E8671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/>
            </a:p>
          </p:txBody>
        </p:sp>
        <p:sp>
          <p:nvSpPr>
            <p:cNvPr id="7" name="Can 6">
              <a:extLst>
                <a:ext uri="{FF2B5EF4-FFF2-40B4-BE49-F238E27FC236}">
                  <a16:creationId xmlns:a16="http://schemas.microsoft.com/office/drawing/2014/main" id="{D4713A1C-838E-62CC-F9AB-BF540BD0BE47}"/>
                </a:ext>
              </a:extLst>
            </p:cNvPr>
            <p:cNvSpPr/>
            <p:nvPr/>
          </p:nvSpPr>
          <p:spPr>
            <a:xfrm rot="2900441">
              <a:off x="5407919" y="3064930"/>
              <a:ext cx="356851" cy="1046851"/>
            </a:xfrm>
            <a:prstGeom prst="can">
              <a:avLst/>
            </a:prstGeom>
            <a:solidFill>
              <a:schemeClr val="accent3">
                <a:lumMod val="50000"/>
              </a:schemeClr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/>
            </a:p>
          </p:txBody>
        </p:sp>
        <p:sp>
          <p:nvSpPr>
            <p:cNvPr id="8" name="Oval 7">
              <a:extLst>
                <a:ext uri="{FF2B5EF4-FFF2-40B4-BE49-F238E27FC236}">
                  <a16:creationId xmlns:a16="http://schemas.microsoft.com/office/drawing/2014/main" id="{47430F0C-7294-14B5-4A39-91554C49D35E}"/>
                </a:ext>
              </a:extLst>
            </p:cNvPr>
            <p:cNvSpPr/>
            <p:nvPr/>
          </p:nvSpPr>
          <p:spPr>
            <a:xfrm>
              <a:off x="3747453" y="4978697"/>
              <a:ext cx="348009" cy="348009"/>
            </a:xfrm>
            <a:prstGeom prst="ellipse">
              <a:avLst/>
            </a:prstGeom>
            <a:solidFill>
              <a:srgbClr val="6E8671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/>
            </a:p>
          </p:txBody>
        </p:sp>
        <p:sp>
          <p:nvSpPr>
            <p:cNvPr id="9" name="Oval 8">
              <a:extLst>
                <a:ext uri="{FF2B5EF4-FFF2-40B4-BE49-F238E27FC236}">
                  <a16:creationId xmlns:a16="http://schemas.microsoft.com/office/drawing/2014/main" id="{63180C78-4E38-DD88-7889-45A3D2F801E7}"/>
                </a:ext>
              </a:extLst>
            </p:cNvPr>
            <p:cNvSpPr/>
            <p:nvPr/>
          </p:nvSpPr>
          <p:spPr>
            <a:xfrm>
              <a:off x="5412339" y="4978696"/>
              <a:ext cx="348009" cy="348009"/>
            </a:xfrm>
            <a:prstGeom prst="ellipse">
              <a:avLst/>
            </a:prstGeom>
            <a:solidFill>
              <a:srgbClr val="6E8671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/>
            </a:p>
          </p:txBody>
        </p:sp>
        <p:sp>
          <p:nvSpPr>
            <p:cNvPr id="10" name="Oval 9">
              <a:extLst>
                <a:ext uri="{FF2B5EF4-FFF2-40B4-BE49-F238E27FC236}">
                  <a16:creationId xmlns:a16="http://schemas.microsoft.com/office/drawing/2014/main" id="{BB1D69C5-1F72-745D-8B87-C1888A229DDA}"/>
                </a:ext>
              </a:extLst>
            </p:cNvPr>
            <p:cNvSpPr/>
            <p:nvPr/>
          </p:nvSpPr>
          <p:spPr>
            <a:xfrm>
              <a:off x="7567571" y="4978696"/>
              <a:ext cx="348009" cy="348009"/>
            </a:xfrm>
            <a:prstGeom prst="ellipse">
              <a:avLst/>
            </a:prstGeom>
            <a:solidFill>
              <a:srgbClr val="6E8671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/>
            </a:p>
          </p:txBody>
        </p:sp>
        <p:cxnSp>
          <p:nvCxnSpPr>
            <p:cNvPr id="11" name="Straight Arrow Connector 10">
              <a:extLst>
                <a:ext uri="{FF2B5EF4-FFF2-40B4-BE49-F238E27FC236}">
                  <a16:creationId xmlns:a16="http://schemas.microsoft.com/office/drawing/2014/main" id="{A56E1C4F-C67D-66CA-A761-64A6EC1F4BDD}"/>
                </a:ext>
              </a:extLst>
            </p:cNvPr>
            <p:cNvCxnSpPr>
              <a:cxnSpLocks/>
            </p:cNvCxnSpPr>
            <p:nvPr/>
          </p:nvCxnSpPr>
          <p:spPr>
            <a:xfrm>
              <a:off x="4331710" y="3588355"/>
              <a:ext cx="499404" cy="0"/>
            </a:xfrm>
            <a:prstGeom prst="straightConnector1">
              <a:avLst/>
            </a:prstGeom>
            <a:ln w="38100">
              <a:solidFill>
                <a:schemeClr val="tx1"/>
              </a:solidFill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" name="Straight Arrow Connector 11">
              <a:extLst>
                <a:ext uri="{FF2B5EF4-FFF2-40B4-BE49-F238E27FC236}">
                  <a16:creationId xmlns:a16="http://schemas.microsoft.com/office/drawing/2014/main" id="{E6B5D9BE-5F58-FB9C-E28D-047A80F1B5F3}"/>
                </a:ext>
              </a:extLst>
            </p:cNvPr>
            <p:cNvCxnSpPr>
              <a:cxnSpLocks/>
            </p:cNvCxnSpPr>
            <p:nvPr/>
          </p:nvCxnSpPr>
          <p:spPr>
            <a:xfrm>
              <a:off x="6381504" y="3588355"/>
              <a:ext cx="499404" cy="0"/>
            </a:xfrm>
            <a:prstGeom prst="straightConnector1">
              <a:avLst/>
            </a:prstGeom>
            <a:ln w="38100">
              <a:solidFill>
                <a:schemeClr val="tx1"/>
              </a:solidFill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" name="Straight Arrow Connector 12">
              <a:extLst>
                <a:ext uri="{FF2B5EF4-FFF2-40B4-BE49-F238E27FC236}">
                  <a16:creationId xmlns:a16="http://schemas.microsoft.com/office/drawing/2014/main" id="{72812543-192D-8DD9-6C16-4F570D0D5BDE}"/>
                </a:ext>
              </a:extLst>
            </p:cNvPr>
            <p:cNvCxnSpPr>
              <a:cxnSpLocks/>
            </p:cNvCxnSpPr>
            <p:nvPr/>
          </p:nvCxnSpPr>
          <p:spPr>
            <a:xfrm>
              <a:off x="4331710" y="5152700"/>
              <a:ext cx="499404" cy="0"/>
            </a:xfrm>
            <a:prstGeom prst="straightConnector1">
              <a:avLst/>
            </a:prstGeom>
            <a:ln w="38100">
              <a:solidFill>
                <a:schemeClr val="tx1"/>
              </a:solidFill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4" name="Straight Arrow Connector 13">
              <a:extLst>
                <a:ext uri="{FF2B5EF4-FFF2-40B4-BE49-F238E27FC236}">
                  <a16:creationId xmlns:a16="http://schemas.microsoft.com/office/drawing/2014/main" id="{FEA9DAF5-78CD-5C78-94DB-DE5B3D03FE72}"/>
                </a:ext>
              </a:extLst>
            </p:cNvPr>
            <p:cNvCxnSpPr>
              <a:cxnSpLocks/>
            </p:cNvCxnSpPr>
            <p:nvPr/>
          </p:nvCxnSpPr>
          <p:spPr>
            <a:xfrm>
              <a:off x="6381504" y="5152700"/>
              <a:ext cx="499404" cy="0"/>
            </a:xfrm>
            <a:prstGeom prst="straightConnector1">
              <a:avLst/>
            </a:prstGeom>
            <a:ln w="38100">
              <a:solidFill>
                <a:schemeClr val="tx1"/>
              </a:solidFill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grpSp>
          <p:nvGrpSpPr>
            <p:cNvPr id="15" name="Group 14">
              <a:extLst>
                <a:ext uri="{FF2B5EF4-FFF2-40B4-BE49-F238E27FC236}">
                  <a16:creationId xmlns:a16="http://schemas.microsoft.com/office/drawing/2014/main" id="{861DA4BE-2FE8-3F68-FD53-6CCE8911F5FE}"/>
                </a:ext>
              </a:extLst>
            </p:cNvPr>
            <p:cNvGrpSpPr/>
            <p:nvPr/>
          </p:nvGrpSpPr>
          <p:grpSpPr>
            <a:xfrm>
              <a:off x="3281475" y="4840941"/>
              <a:ext cx="5056094" cy="636494"/>
              <a:chOff x="3249968" y="4840941"/>
              <a:chExt cx="5056094" cy="636494"/>
            </a:xfrm>
          </p:grpSpPr>
          <p:cxnSp>
            <p:nvCxnSpPr>
              <p:cNvPr id="20" name="Straight Connector 19">
                <a:extLst>
                  <a:ext uri="{FF2B5EF4-FFF2-40B4-BE49-F238E27FC236}">
                    <a16:creationId xmlns:a16="http://schemas.microsoft.com/office/drawing/2014/main" id="{A4621921-9508-368D-1A0D-043B6A48C05D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3249968" y="4840941"/>
                <a:ext cx="5056094" cy="0"/>
              </a:xfrm>
              <a:prstGeom prst="line">
                <a:avLst/>
              </a:prstGeom>
              <a:ln w="25400">
                <a:prstDash val="dash"/>
              </a:ln>
            </p:spPr>
            <p:style>
              <a:lnRef idx="2">
                <a:schemeClr val="dk1"/>
              </a:lnRef>
              <a:fillRef idx="0">
                <a:schemeClr val="dk1"/>
              </a:fillRef>
              <a:effectRef idx="1">
                <a:schemeClr val="dk1"/>
              </a:effectRef>
              <a:fontRef idx="minor">
                <a:schemeClr val="tx1"/>
              </a:fontRef>
            </p:style>
          </p:cxnSp>
          <p:cxnSp>
            <p:nvCxnSpPr>
              <p:cNvPr id="21" name="Straight Connector 20">
                <a:extLst>
                  <a:ext uri="{FF2B5EF4-FFF2-40B4-BE49-F238E27FC236}">
                    <a16:creationId xmlns:a16="http://schemas.microsoft.com/office/drawing/2014/main" id="{F76794E9-9202-57C2-0C4F-D9FB4EEA2EC3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3249968" y="5159188"/>
                <a:ext cx="5056094" cy="0"/>
              </a:xfrm>
              <a:prstGeom prst="line">
                <a:avLst/>
              </a:prstGeom>
              <a:ln w="25400">
                <a:prstDash val="dash"/>
              </a:ln>
            </p:spPr>
            <p:style>
              <a:lnRef idx="2">
                <a:schemeClr val="dk1"/>
              </a:lnRef>
              <a:fillRef idx="0">
                <a:schemeClr val="dk1"/>
              </a:fillRef>
              <a:effectRef idx="1">
                <a:schemeClr val="dk1"/>
              </a:effectRef>
              <a:fontRef idx="minor">
                <a:schemeClr val="tx1"/>
              </a:fontRef>
            </p:style>
          </p:cxnSp>
          <p:cxnSp>
            <p:nvCxnSpPr>
              <p:cNvPr id="22" name="Straight Connector 21">
                <a:extLst>
                  <a:ext uri="{FF2B5EF4-FFF2-40B4-BE49-F238E27FC236}">
                    <a16:creationId xmlns:a16="http://schemas.microsoft.com/office/drawing/2014/main" id="{B40F2B9B-950F-F435-5DA7-8E1925E28D1C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3249968" y="5477435"/>
                <a:ext cx="5056094" cy="0"/>
              </a:xfrm>
              <a:prstGeom prst="line">
                <a:avLst/>
              </a:prstGeom>
              <a:ln w="25400">
                <a:prstDash val="dash"/>
              </a:ln>
            </p:spPr>
            <p:style>
              <a:lnRef idx="2">
                <a:schemeClr val="dk1"/>
              </a:lnRef>
              <a:fillRef idx="0">
                <a:schemeClr val="dk1"/>
              </a:fillRef>
              <a:effectRef idx="1">
                <a:schemeClr val="dk1"/>
              </a:effectRef>
              <a:fontRef idx="minor">
                <a:schemeClr val="tx1"/>
              </a:fontRef>
            </p:style>
          </p:cxnSp>
        </p:grpSp>
        <p:grpSp>
          <p:nvGrpSpPr>
            <p:cNvPr id="16" name="Group 15">
              <a:extLst>
                <a:ext uri="{FF2B5EF4-FFF2-40B4-BE49-F238E27FC236}">
                  <a16:creationId xmlns:a16="http://schemas.microsoft.com/office/drawing/2014/main" id="{5DEEB54D-E819-B402-45DF-59A78E6E6BF2}"/>
                </a:ext>
              </a:extLst>
            </p:cNvPr>
            <p:cNvGrpSpPr/>
            <p:nvPr/>
          </p:nvGrpSpPr>
          <p:grpSpPr>
            <a:xfrm>
              <a:off x="3281475" y="3272117"/>
              <a:ext cx="5056094" cy="636494"/>
              <a:chOff x="3232301" y="3272117"/>
              <a:chExt cx="5056094" cy="636494"/>
            </a:xfrm>
          </p:grpSpPr>
          <p:cxnSp>
            <p:nvCxnSpPr>
              <p:cNvPr id="17" name="Straight Connector 16">
                <a:extLst>
                  <a:ext uri="{FF2B5EF4-FFF2-40B4-BE49-F238E27FC236}">
                    <a16:creationId xmlns:a16="http://schemas.microsoft.com/office/drawing/2014/main" id="{7621E2FF-C6F7-0CA7-C2CB-3A13BCEE2AE8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3232301" y="3272117"/>
                <a:ext cx="5056094" cy="0"/>
              </a:xfrm>
              <a:prstGeom prst="line">
                <a:avLst/>
              </a:prstGeom>
              <a:ln w="25400">
                <a:prstDash val="dash"/>
              </a:ln>
            </p:spPr>
            <p:style>
              <a:lnRef idx="2">
                <a:schemeClr val="dk1"/>
              </a:lnRef>
              <a:fillRef idx="0">
                <a:schemeClr val="dk1"/>
              </a:fillRef>
              <a:effectRef idx="1">
                <a:schemeClr val="dk1"/>
              </a:effectRef>
              <a:fontRef idx="minor">
                <a:schemeClr val="tx1"/>
              </a:fontRef>
            </p:style>
          </p:cxnSp>
          <p:cxnSp>
            <p:nvCxnSpPr>
              <p:cNvPr id="18" name="Straight Connector 17">
                <a:extLst>
                  <a:ext uri="{FF2B5EF4-FFF2-40B4-BE49-F238E27FC236}">
                    <a16:creationId xmlns:a16="http://schemas.microsoft.com/office/drawing/2014/main" id="{C57260A7-1883-5341-27C5-E407085A309F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3232301" y="3590364"/>
                <a:ext cx="5056094" cy="0"/>
              </a:xfrm>
              <a:prstGeom prst="line">
                <a:avLst/>
              </a:prstGeom>
              <a:ln w="25400">
                <a:prstDash val="dash"/>
              </a:ln>
            </p:spPr>
            <p:style>
              <a:lnRef idx="2">
                <a:schemeClr val="dk1"/>
              </a:lnRef>
              <a:fillRef idx="0">
                <a:schemeClr val="dk1"/>
              </a:fillRef>
              <a:effectRef idx="1">
                <a:schemeClr val="dk1"/>
              </a:effectRef>
              <a:fontRef idx="minor">
                <a:schemeClr val="tx1"/>
              </a:fontRef>
            </p:style>
          </p:cxnSp>
          <p:cxnSp>
            <p:nvCxnSpPr>
              <p:cNvPr id="19" name="Straight Connector 18">
                <a:extLst>
                  <a:ext uri="{FF2B5EF4-FFF2-40B4-BE49-F238E27FC236}">
                    <a16:creationId xmlns:a16="http://schemas.microsoft.com/office/drawing/2014/main" id="{3C5AE048-433F-DA3F-16FF-FDE03C3E8EAB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3232301" y="3908611"/>
                <a:ext cx="5056094" cy="0"/>
              </a:xfrm>
              <a:prstGeom prst="line">
                <a:avLst/>
              </a:prstGeom>
              <a:ln w="25400">
                <a:prstDash val="dash"/>
              </a:ln>
            </p:spPr>
            <p:style>
              <a:lnRef idx="2">
                <a:schemeClr val="dk1"/>
              </a:lnRef>
              <a:fillRef idx="0">
                <a:schemeClr val="dk1"/>
              </a:fillRef>
              <a:effectRef idx="1">
                <a:schemeClr val="dk1"/>
              </a:effectRef>
              <a:fontRef idx="minor">
                <a:schemeClr val="tx1"/>
              </a:fontRef>
            </p:style>
          </p:cxnSp>
        </p:grpSp>
      </p:grpSp>
    </p:spTree>
    <p:extLst>
      <p:ext uri="{BB962C8B-B14F-4D97-AF65-F5344CB8AC3E}">
        <p14:creationId xmlns:p14="http://schemas.microsoft.com/office/powerpoint/2010/main" val="333922020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1454</TotalTime>
  <Words>152</Words>
  <Application>Microsoft Macintosh PowerPoint</Application>
  <PresentationFormat>Widescreen</PresentationFormat>
  <Paragraphs>23</Paragraphs>
  <Slides>4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4</vt:i4>
      </vt:variant>
    </vt:vector>
  </HeadingPairs>
  <TitlesOfParts>
    <vt:vector size="8" baseType="lpstr">
      <vt:lpstr>Aptos</vt:lpstr>
      <vt:lpstr>Aptos Display</vt:lpstr>
      <vt:lpstr>Arial</vt:lpstr>
      <vt:lpstr>Office Theme</vt:lpstr>
      <vt:lpstr>The Fillies</vt:lpstr>
      <vt:lpstr>Problem</vt:lpstr>
      <vt:lpstr>Models Key Capabilities</vt:lpstr>
      <vt:lpstr>Future Directions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Robert Vander Velde</dc:creator>
  <cp:lastModifiedBy>Robert Vander Velde</cp:lastModifiedBy>
  <cp:revision>42</cp:revision>
  <dcterms:created xsi:type="dcterms:W3CDTF">2026-03-21T09:38:37Z</dcterms:created>
  <dcterms:modified xsi:type="dcterms:W3CDTF">2026-03-22T09:57:55Z</dcterms:modified>
</cp:coreProperties>
</file>