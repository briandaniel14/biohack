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0" r:id="rId4"/>
    <p:sldId id="263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300"/>
    <a:srgbClr val="FFC100"/>
    <a:srgbClr val="F0B200"/>
    <a:srgbClr val="FF9900"/>
    <a:srgbClr val="6E8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81"/>
  </p:normalViewPr>
  <p:slideViewPr>
    <p:cSldViewPr snapToGrid="0">
      <p:cViewPr varScale="1">
        <p:scale>
          <a:sx n="116" d="100"/>
          <a:sy n="116" d="100"/>
        </p:scale>
        <p:origin x="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1C9AE-452B-6A4F-A325-6588847E397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D555A-2839-854B-83C7-511BB0DDFA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5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3922-1969-8F4A-13AA-CBBCBB642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2752D-74B7-B374-A88C-3D0FC4D7A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BDFE0-462C-87D6-CAEF-59E9066A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9928-CE69-CA9B-CB6B-6AA0CF86E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2FFB0-D4FC-7B15-97FA-68A3E11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482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7939A-EF6C-0379-E173-48B07247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0102-C12B-B02C-A0FD-599AE6843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E9A3-0714-1CF1-2C74-38B96CC2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E19A-88B2-E7DA-AE09-44AA1307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23D-640D-2EFB-BE65-BE5788C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12A8B-4D0A-0E8E-30B6-832D01560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F039-532C-CD0F-9089-AAFA7B85A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B4CA2-6C9D-3845-E58E-B35D2668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8D3D8-77C0-25AB-C8BC-EB6599CF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01242-B7B0-D0B7-8F29-9CD12445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0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9326-913E-07D1-13FD-5E2CA9D1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753B2-5E93-3125-6F38-D69BBFA24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404B1-2096-BC3B-E8F7-976977B13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0399-07EC-2B9F-389C-5DFA6D7B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A5B5E-A5BD-7A51-147B-8AD204EC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BD10E-C646-DF0F-F32E-B9CA1B85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55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671F-F86A-5B27-F271-26F70E75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5A242-5F28-3922-3A7F-5FD915A2C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8B994-5889-CEC3-1EDB-28380E1C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8B2BF-02B1-B7D0-B3D8-AB1E0B98D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DD57E5-CC36-380A-61FF-E3B8D7BBC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2274-1925-F5B6-840D-71295C74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3605A-6DB2-3FF2-03B6-AE6A7B70B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CB63B-1562-1B5F-4A96-6DEC1D75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679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3C62-324A-2095-D683-C052C0EE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71F0B-DE05-07CB-5F94-FBC80F4A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CC80-0634-DFC4-D38B-195A59D16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4756E-0E38-DF19-7DC1-A090F6C1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3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0638-CB16-96F9-3762-2AE4AEF2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BC2F7-0D6D-19AC-54E2-BCB886A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C8F54-8171-97F3-DC9E-0E63ADD3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661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2599-979A-0263-E82F-31CF5BB5A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561A1-3E9C-253E-A7D2-F31272CF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23C73-B7E4-A3F4-F147-C62619D52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2589-6FB5-6BAC-42A3-0D8D84B7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35A20-5E2B-322B-1CD9-CB4378C8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91937-E904-E9D0-9E7E-F1FFC4E78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10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CA8-5789-C5FA-7FC1-B56D0D2E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6AA27D-DF7A-407C-11F4-7A2095C8A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647AD-E99B-5A27-E439-0BC73E83A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78A50-07B5-8EB4-BC33-3D6DA2D7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80EEF-FE31-483D-7BF7-47DB3C83F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3F980-710C-2DFC-95F3-3096F7ED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34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A1CDF-BE4B-0E1C-A081-173FA21E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8ACB9-3A31-A3CC-2464-63BDFC42F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1B7CA-171E-BD5C-FA70-83958984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3EF69-A68D-F41D-A4F4-B002DB4D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814F5-1353-275D-6795-F9DC792A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4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BE2CC-9F3C-7483-1708-0E1258717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521F9-7AA2-ABB9-7B3C-756D14343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5E08-A4F6-3DC9-FDB0-3B7C187B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FD8B2-A399-223D-3A37-0D941D68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3D28-E475-0FD9-B35C-68995822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363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5000">
              <a:srgbClr val="F0B200"/>
            </a:gs>
            <a:gs pos="8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23A0F-CBE7-D824-F414-45B0F27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2B4F-2203-4211-AAA9-5AF1E8E32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4A32-CCB9-A5DF-B235-76B8B5BF21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614B7-B127-1799-7237-9E8086DDF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AC54-CBAA-8C8F-7F77-34C40BF3B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29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0000">
              <a:srgbClr val="F0B200"/>
            </a:gs>
            <a:gs pos="6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CF15EAB-D3DF-0C93-3065-535C0B49A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11490">
            <a:off x="2068870" y="598579"/>
            <a:ext cx="2652765" cy="127725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AB1FB7-C419-C209-6AD3-9204F7483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132521">
            <a:off x="4769618" y="5073580"/>
            <a:ext cx="2652765" cy="127725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F27F0DA-0DE7-08B8-A2BA-3F209D32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833282">
            <a:off x="8124386" y="1698024"/>
            <a:ext cx="2652765" cy="1277257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30D24E4-ADC2-1D86-FB4B-AB8018207534}"/>
              </a:ext>
            </a:extLst>
          </p:cNvPr>
          <p:cNvSpPr/>
          <p:nvPr/>
        </p:nvSpPr>
        <p:spPr>
          <a:xfrm rot="2900441">
            <a:off x="3046470" y="929009"/>
            <a:ext cx="159657" cy="888773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00BC8E82-4439-59E9-77C0-E7FCB0442777}"/>
              </a:ext>
            </a:extLst>
          </p:cNvPr>
          <p:cNvSpPr/>
          <p:nvPr/>
        </p:nvSpPr>
        <p:spPr>
          <a:xfrm rot="6029648">
            <a:off x="5624507" y="5512551"/>
            <a:ext cx="159657" cy="287124"/>
          </a:xfrm>
          <a:prstGeom prst="can">
            <a:avLst>
              <a:gd name="adj" fmla="val 278338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FFDBD7-8F2A-21F8-CF1E-2C6EAC28AE78}"/>
              </a:ext>
            </a:extLst>
          </p:cNvPr>
          <p:cNvSpPr/>
          <p:nvPr/>
        </p:nvSpPr>
        <p:spPr>
          <a:xfrm>
            <a:off x="9548645" y="2398666"/>
            <a:ext cx="155701" cy="155701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10106DD-8674-0036-7B7C-53A0F1B96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31982"/>
            <a:ext cx="9144000" cy="1369228"/>
          </a:xfrm>
        </p:spPr>
        <p:txBody>
          <a:bodyPr anchor="ctr" anchorCtr="0"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Fillies</a:t>
            </a:r>
          </a:p>
        </p:txBody>
      </p:sp>
      <p:pic>
        <p:nvPicPr>
          <p:cNvPr id="20" name="Picture 19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B18B0D56-3D42-425D-365F-AF83EA54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75" y="2487983"/>
            <a:ext cx="2569248" cy="200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D5F11-A768-5A10-42CE-0D702038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2CD6354-78BD-8BF3-3E51-9E2ED6516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18842" y="2689061"/>
            <a:ext cx="1821396" cy="3122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E88FB6-6C3D-7521-FB53-FCF5BCBC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1836D0-989F-5662-DE46-B0ACFDE2B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75294" cy="4351338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Tracking protein aggregates is relevant to: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Understanding how eukaryotic cells survive stress and starvation (for bioproduction and biomedicine)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Neurodegenerative diseases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Cell motility (cancer, immunology)</a:t>
            </a:r>
          </a:p>
          <a:p>
            <a:pPr lvl="1"/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Structural integrity (diseases of the vasculature)</a:t>
            </a:r>
          </a:p>
          <a:p>
            <a:endParaRPr lang="en-GB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20577D4-B5F7-1AEF-4099-B5F16B386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711490">
            <a:off x="8301822" y="800567"/>
            <a:ext cx="3697428" cy="1780243"/>
          </a:xfrm>
          <a:prstGeom prst="rect">
            <a:avLst/>
          </a:prstGeom>
        </p:spPr>
      </p:pic>
      <p:sp>
        <p:nvSpPr>
          <p:cNvPr id="4" name="Can 3">
            <a:extLst>
              <a:ext uri="{FF2B5EF4-FFF2-40B4-BE49-F238E27FC236}">
                <a16:creationId xmlns:a16="http://schemas.microsoft.com/office/drawing/2014/main" id="{F96FCEA3-9491-718D-84F2-50EB477AB171}"/>
              </a:ext>
            </a:extLst>
          </p:cNvPr>
          <p:cNvSpPr/>
          <p:nvPr/>
        </p:nvSpPr>
        <p:spPr>
          <a:xfrm rot="2900441">
            <a:off x="9623586" y="1293914"/>
            <a:ext cx="222530" cy="1238772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7A912-CDC8-4411-3876-B0B31C552FB6}"/>
              </a:ext>
            </a:extLst>
          </p:cNvPr>
          <p:cNvSpPr txBox="1"/>
          <p:nvPr/>
        </p:nvSpPr>
        <p:spPr>
          <a:xfrm>
            <a:off x="6505016" y="6457890"/>
            <a:ext cx="6098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cell-intermediate-filament icon by Servier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smart.servier.com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 is licensed under CC-BY 3.0 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Unported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/licenses/by/3.0/</a:t>
            </a:r>
          </a:p>
        </p:txBody>
      </p:sp>
    </p:spTree>
    <p:extLst>
      <p:ext uri="{BB962C8B-B14F-4D97-AF65-F5344CB8AC3E}">
        <p14:creationId xmlns:p14="http://schemas.microsoft.com/office/powerpoint/2010/main" val="31210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2786F-F27C-C744-9864-4E298550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19C0-C110-A351-629C-E1E8AA8BE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Models Key Capabilities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374129-1045-D799-1D8D-A1AB4BD4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07506" cy="4351338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Easy interface to upload images and extract data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Inputs entire field of view, no manual cropping required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Detects filaments per cell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Tested against manual annotation and synthetic data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Outputs csv data displaying filament growth and change in angle</a:t>
            </a:r>
          </a:p>
          <a:p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796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9D6E-795C-C965-82EC-F1DE9DCD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C8A9-D450-8807-A54C-AA57E806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5363B-5978-5C85-B7E3-3E6A9A030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Compare filament growth rate in different strains, degrees of starvation and ura7 (filament forming protein) mutations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Use z-stacks to further disentangle filament growth from filament rotation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Applying to situations with multiple filaments</a:t>
            </a:r>
          </a:p>
        </p:txBody>
      </p:sp>
    </p:spTree>
    <p:extLst>
      <p:ext uri="{BB962C8B-B14F-4D97-AF65-F5344CB8AC3E}">
        <p14:creationId xmlns:p14="http://schemas.microsoft.com/office/powerpoint/2010/main" val="333922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3BD8C-C7C4-AF5E-AB8F-6D38B286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475F-653F-C7B6-F169-7C07EFDA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04122C-1C2C-88CB-A0C0-15844DD70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69214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Measuring filament growth rate requires disentangling from rotation</a:t>
            </a:r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8AE08E5B-5669-09AC-DB18-CC4B4B2F8424}"/>
              </a:ext>
            </a:extLst>
          </p:cNvPr>
          <p:cNvSpPr/>
          <p:nvPr/>
        </p:nvSpPr>
        <p:spPr>
          <a:xfrm rot="2900441">
            <a:off x="7563151" y="2595105"/>
            <a:ext cx="356851" cy="1986504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BB709DF-07E7-E15F-52E9-305DEDC2B2EB}"/>
              </a:ext>
            </a:extLst>
          </p:cNvPr>
          <p:cNvSpPr/>
          <p:nvPr/>
        </p:nvSpPr>
        <p:spPr>
          <a:xfrm>
            <a:off x="3747454" y="341435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9559C54-B695-B938-839E-7F8CDD6C7DCC}"/>
              </a:ext>
            </a:extLst>
          </p:cNvPr>
          <p:cNvSpPr/>
          <p:nvPr/>
        </p:nvSpPr>
        <p:spPr>
          <a:xfrm rot="2900441">
            <a:off x="5407919" y="3064930"/>
            <a:ext cx="356851" cy="1046851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F674036-8A1C-2537-EC34-2CCF37B7FA74}"/>
              </a:ext>
            </a:extLst>
          </p:cNvPr>
          <p:cNvSpPr/>
          <p:nvPr/>
        </p:nvSpPr>
        <p:spPr>
          <a:xfrm>
            <a:off x="3747453" y="4978697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2D9C655-F6DF-28B6-E8DF-72B0EAC97EC6}"/>
              </a:ext>
            </a:extLst>
          </p:cNvPr>
          <p:cNvSpPr/>
          <p:nvPr/>
        </p:nvSpPr>
        <p:spPr>
          <a:xfrm>
            <a:off x="5412339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33ACC34-5DAD-7058-0E96-EF8672D4CFAB}"/>
              </a:ext>
            </a:extLst>
          </p:cNvPr>
          <p:cNvSpPr/>
          <p:nvPr/>
        </p:nvSpPr>
        <p:spPr>
          <a:xfrm>
            <a:off x="7567571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1968F6-BBE5-9236-2909-314BC0805621}"/>
              </a:ext>
            </a:extLst>
          </p:cNvPr>
          <p:cNvCxnSpPr>
            <a:cxnSpLocks/>
          </p:cNvCxnSpPr>
          <p:nvPr/>
        </p:nvCxnSpPr>
        <p:spPr>
          <a:xfrm>
            <a:off x="4331710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AE03B5-22D1-151F-E213-531D906BCD0A}"/>
              </a:ext>
            </a:extLst>
          </p:cNvPr>
          <p:cNvCxnSpPr>
            <a:cxnSpLocks/>
          </p:cNvCxnSpPr>
          <p:nvPr/>
        </p:nvCxnSpPr>
        <p:spPr>
          <a:xfrm>
            <a:off x="6381504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D646BE-42A7-B4D9-65A7-F45770281EA9}"/>
              </a:ext>
            </a:extLst>
          </p:cNvPr>
          <p:cNvCxnSpPr>
            <a:cxnSpLocks/>
          </p:cNvCxnSpPr>
          <p:nvPr/>
        </p:nvCxnSpPr>
        <p:spPr>
          <a:xfrm>
            <a:off x="4331710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58A1C14-0ED0-802F-BD5F-5F93A372E168}"/>
              </a:ext>
            </a:extLst>
          </p:cNvPr>
          <p:cNvCxnSpPr>
            <a:cxnSpLocks/>
          </p:cNvCxnSpPr>
          <p:nvPr/>
        </p:nvCxnSpPr>
        <p:spPr>
          <a:xfrm>
            <a:off x="6381504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880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27424-68B8-019A-F7FE-1697471A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2B15-E3B1-510C-75B1-F34179C99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One Solution: Connecting and Tracking  Z-Stacks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A1FF77-45B1-AD53-B86A-E771F7004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69214"/>
          </a:xfrm>
        </p:spPr>
        <p:txBody>
          <a:bodyPr>
            <a:norm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Measuring filament growth rate requires disentangling from rotation</a:t>
            </a:r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3DAB23B9-C289-756E-8828-116099F924B7}"/>
              </a:ext>
            </a:extLst>
          </p:cNvPr>
          <p:cNvSpPr/>
          <p:nvPr/>
        </p:nvSpPr>
        <p:spPr>
          <a:xfrm rot="2900441">
            <a:off x="7563151" y="2595105"/>
            <a:ext cx="356851" cy="1986504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F91532-1A43-08CD-FDFC-4460AD705EAB}"/>
              </a:ext>
            </a:extLst>
          </p:cNvPr>
          <p:cNvSpPr/>
          <p:nvPr/>
        </p:nvSpPr>
        <p:spPr>
          <a:xfrm>
            <a:off x="3747454" y="341435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5586217-3ED9-6C08-C92F-107453677F3D}"/>
              </a:ext>
            </a:extLst>
          </p:cNvPr>
          <p:cNvSpPr/>
          <p:nvPr/>
        </p:nvSpPr>
        <p:spPr>
          <a:xfrm rot="2900441">
            <a:off x="5407919" y="3064930"/>
            <a:ext cx="356851" cy="1046851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3960152-F5D0-BE75-7D73-2AD6F9403A61}"/>
              </a:ext>
            </a:extLst>
          </p:cNvPr>
          <p:cNvSpPr/>
          <p:nvPr/>
        </p:nvSpPr>
        <p:spPr>
          <a:xfrm>
            <a:off x="3747453" y="4978697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A5CE578-F6D5-D870-65B2-7697F5B12839}"/>
              </a:ext>
            </a:extLst>
          </p:cNvPr>
          <p:cNvSpPr/>
          <p:nvPr/>
        </p:nvSpPr>
        <p:spPr>
          <a:xfrm>
            <a:off x="5412339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119C1A7-4E86-AC45-4FCF-1113C18CFC60}"/>
              </a:ext>
            </a:extLst>
          </p:cNvPr>
          <p:cNvSpPr/>
          <p:nvPr/>
        </p:nvSpPr>
        <p:spPr>
          <a:xfrm>
            <a:off x="7567571" y="4978696"/>
            <a:ext cx="348009" cy="348009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3DBCC2-AA03-399F-E0E7-2667ADD80386}"/>
              </a:ext>
            </a:extLst>
          </p:cNvPr>
          <p:cNvCxnSpPr>
            <a:cxnSpLocks/>
          </p:cNvCxnSpPr>
          <p:nvPr/>
        </p:nvCxnSpPr>
        <p:spPr>
          <a:xfrm>
            <a:off x="4331710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EF35F8-87E6-40F1-B29C-695AB7BE1D1B}"/>
              </a:ext>
            </a:extLst>
          </p:cNvPr>
          <p:cNvCxnSpPr>
            <a:cxnSpLocks/>
          </p:cNvCxnSpPr>
          <p:nvPr/>
        </p:nvCxnSpPr>
        <p:spPr>
          <a:xfrm>
            <a:off x="6381504" y="3588355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D33A4D-9FEE-681F-E292-E65AC2D374EA}"/>
              </a:ext>
            </a:extLst>
          </p:cNvPr>
          <p:cNvCxnSpPr>
            <a:cxnSpLocks/>
          </p:cNvCxnSpPr>
          <p:nvPr/>
        </p:nvCxnSpPr>
        <p:spPr>
          <a:xfrm>
            <a:off x="4331710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2F1987E-D891-D8FF-9545-BE54719A1221}"/>
              </a:ext>
            </a:extLst>
          </p:cNvPr>
          <p:cNvCxnSpPr>
            <a:cxnSpLocks/>
          </p:cNvCxnSpPr>
          <p:nvPr/>
        </p:nvCxnSpPr>
        <p:spPr>
          <a:xfrm>
            <a:off x="6381504" y="5152700"/>
            <a:ext cx="49940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7CB9D10-95D1-7E79-A409-B2F296E36BDF}"/>
              </a:ext>
            </a:extLst>
          </p:cNvPr>
          <p:cNvGrpSpPr/>
          <p:nvPr/>
        </p:nvGrpSpPr>
        <p:grpSpPr>
          <a:xfrm>
            <a:off x="3281475" y="4840941"/>
            <a:ext cx="5056094" cy="636494"/>
            <a:chOff x="3249968" y="4840941"/>
            <a:chExt cx="5056094" cy="63649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32CCEC1-91DC-1D10-EE6C-37F6887AAC7F}"/>
                </a:ext>
              </a:extLst>
            </p:cNvPr>
            <p:cNvCxnSpPr>
              <a:cxnSpLocks/>
            </p:cNvCxnSpPr>
            <p:nvPr/>
          </p:nvCxnSpPr>
          <p:spPr>
            <a:xfrm>
              <a:off x="3249968" y="4840941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602331-A44B-8C68-BC87-977DBB6BED00}"/>
                </a:ext>
              </a:extLst>
            </p:cNvPr>
            <p:cNvCxnSpPr>
              <a:cxnSpLocks/>
            </p:cNvCxnSpPr>
            <p:nvPr/>
          </p:nvCxnSpPr>
          <p:spPr>
            <a:xfrm>
              <a:off x="3249968" y="5159188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58C3606-44CC-3291-025D-A1CD80B6B1AC}"/>
                </a:ext>
              </a:extLst>
            </p:cNvPr>
            <p:cNvCxnSpPr>
              <a:cxnSpLocks/>
            </p:cNvCxnSpPr>
            <p:nvPr/>
          </p:nvCxnSpPr>
          <p:spPr>
            <a:xfrm>
              <a:off x="3249968" y="5477435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71348C1-4628-5DAD-FA7E-6B71919EB319}"/>
              </a:ext>
            </a:extLst>
          </p:cNvPr>
          <p:cNvGrpSpPr/>
          <p:nvPr/>
        </p:nvGrpSpPr>
        <p:grpSpPr>
          <a:xfrm>
            <a:off x="3281475" y="3272117"/>
            <a:ext cx="5056094" cy="636494"/>
            <a:chOff x="3232301" y="3272117"/>
            <a:chExt cx="5056094" cy="636494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41ED134-FF55-0A8C-FB86-481CBDFBDE0C}"/>
                </a:ext>
              </a:extLst>
            </p:cNvPr>
            <p:cNvCxnSpPr>
              <a:cxnSpLocks/>
            </p:cNvCxnSpPr>
            <p:nvPr/>
          </p:nvCxnSpPr>
          <p:spPr>
            <a:xfrm>
              <a:off x="3232301" y="3272117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B65DEE9-73D4-5FF1-1B20-D88AD4C84319}"/>
                </a:ext>
              </a:extLst>
            </p:cNvPr>
            <p:cNvCxnSpPr>
              <a:cxnSpLocks/>
            </p:cNvCxnSpPr>
            <p:nvPr/>
          </p:nvCxnSpPr>
          <p:spPr>
            <a:xfrm>
              <a:off x="3232301" y="3590364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0C83916-2959-BF71-A7DF-78B6DCF84620}"/>
                </a:ext>
              </a:extLst>
            </p:cNvPr>
            <p:cNvCxnSpPr>
              <a:cxnSpLocks/>
            </p:cNvCxnSpPr>
            <p:nvPr/>
          </p:nvCxnSpPr>
          <p:spPr>
            <a:xfrm>
              <a:off x="3232301" y="3908611"/>
              <a:ext cx="5056094" cy="0"/>
            </a:xfrm>
            <a:prstGeom prst="line">
              <a:avLst/>
            </a:prstGeom>
            <a:ln w="25400"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3170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179</Words>
  <Application>Microsoft Macintosh PowerPoint</Application>
  <PresentationFormat>Widescreen</PresentationFormat>
  <Paragraphs>23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The Fillies</vt:lpstr>
      <vt:lpstr>Problem</vt:lpstr>
      <vt:lpstr>Models Key Capabilities</vt:lpstr>
      <vt:lpstr>Future Directions</vt:lpstr>
      <vt:lpstr>Problem</vt:lpstr>
      <vt:lpstr>One Solution: Connecting and Tracking  Z-Stacks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Vander Velde</dc:creator>
  <cp:lastModifiedBy>Robert Vander Velde</cp:lastModifiedBy>
  <cp:revision>28</cp:revision>
  <dcterms:created xsi:type="dcterms:W3CDTF">2026-03-21T09:38:37Z</dcterms:created>
  <dcterms:modified xsi:type="dcterms:W3CDTF">2026-03-21T17:54:16Z</dcterms:modified>
</cp:coreProperties>
</file>