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60" r:id="rId4"/>
    <p:sldId id="263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B300"/>
    <a:srgbClr val="FFC100"/>
    <a:srgbClr val="F0B200"/>
    <a:srgbClr val="FF9900"/>
    <a:srgbClr val="6E86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81"/>
  </p:normalViewPr>
  <p:slideViewPr>
    <p:cSldViewPr snapToGrid="0">
      <p:cViewPr varScale="1">
        <p:scale>
          <a:sx n="116" d="100"/>
          <a:sy n="116" d="100"/>
        </p:scale>
        <p:origin x="2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1C9AE-452B-6A4F-A325-6588847E397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D555A-2839-854B-83C7-511BB0DDFA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0522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23922-1969-8F4A-13AA-CBBCBB6422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C2752D-74B7-B374-A88C-3D0FC4D7A8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BDFE0-462C-87D6-CAEF-59E9066A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9928-CE69-CA9B-CB6B-6AA0CF86E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2FFB0-D4FC-7B15-97FA-68A3E11F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482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7939A-EF6C-0379-E173-48B072471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20102-C12B-B02C-A0FD-599AE6843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AE9A3-0714-1CF1-2C74-38B96CC2F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DE19A-88B2-E7DA-AE09-44AA1307C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A23D-640D-2EFB-BE65-BE5788C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12A8B-4D0A-0E8E-30B6-832D01560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F039-532C-CD0F-9089-AAFA7B85A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B4CA2-6C9D-3845-E58E-B35D26684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8D3D8-77C0-25AB-C8BC-EB6599CFE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01242-B7B0-D0B7-8F29-9CD12445B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702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59326-913E-07D1-13FD-5E2CA9D14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753B2-5E93-3125-6F38-D69BBFA24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404B1-2096-BC3B-E8F7-976977B13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70399-07EC-2B9F-389C-5DFA6D7B8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A5B5E-A5BD-7A51-147B-8AD204EC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DBD10E-C646-DF0F-F32E-B9CA1B857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855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D671F-F86A-5B27-F271-26F70E75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5A242-5F28-3922-3A7F-5FD915A2C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8B994-5889-CEC3-1EDB-28380E1C6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8B2BF-02B1-B7D0-B3D8-AB1E0B98D0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DD57E5-CC36-380A-61FF-E3B8D7BBC7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92274-1925-F5B6-840D-71295C745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43605A-6DB2-3FF2-03B6-AE6A7B70B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0CB63B-1562-1B5F-4A96-6DEC1D75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679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D3C62-324A-2095-D683-C052C0EE7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871F0B-DE05-07CB-5F94-FBC80F4A3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64CC80-0634-DFC4-D38B-195A59D16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94756E-0E38-DF19-7DC1-A090F6C1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31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B0638-CB16-96F9-3762-2AE4AEF2C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5BC2F7-0D6D-19AC-54E2-BCB886AA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8C8F54-8171-97F3-DC9E-0E63ADD3A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661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2599-979A-0263-E82F-31CF5BB5A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561A1-3E9C-253E-A7D2-F31272CF0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623C73-B7E4-A3F4-F147-C62619D526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B2589-6FB5-6BAC-42A3-0D8D84B7B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35A20-5E2B-322B-1CD9-CB4378C82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91937-E904-E9D0-9E7E-F1FFC4E78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10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CA8-5789-C5FA-7FC1-B56D0D2EB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6AA27D-DF7A-407C-11F4-7A2095C8A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B647AD-E99B-5A27-E439-0BC73E83A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78A50-07B5-8EB4-BC33-3D6DA2D7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80EEF-FE31-483D-7BF7-47DB3C83F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3F980-710C-2DFC-95F3-3096F7ED5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348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A1CDF-BE4B-0E1C-A081-173FA21EE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8ACB9-3A31-A3CC-2464-63BDFC42F5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1B7CA-171E-BD5C-FA70-83958984D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3EF69-A68D-F41D-A4F4-B002DB4D5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814F5-1353-275D-6795-F9DC792A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7924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BE2CC-9F3C-7483-1708-0E12587170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F521F9-7AA2-ABB9-7B3C-756D14343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95E08-A4F6-3DC9-FDB0-3B7C187B2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FD8B2-A399-223D-3A37-0D941D68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3D28-E475-0FD9-B35C-689958228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363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5000">
              <a:srgbClr val="F0B200"/>
            </a:gs>
            <a:gs pos="8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023A0F-CBE7-D824-F414-45B0F27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E2B4F-2203-4211-AAA9-5AF1E8E32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4A32-CCB9-A5DF-B235-76B8B5BF21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614B7-B127-1799-7237-9E8086DDF7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6AC54-CBAA-8C8F-7F77-34C40BF3B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1293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0000">
              <a:srgbClr val="F0B200"/>
            </a:gs>
            <a:gs pos="6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CF15EAB-D3DF-0C93-3065-535C0B49A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711490">
            <a:off x="2068870" y="598579"/>
            <a:ext cx="2652765" cy="127725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8AB1FB7-C419-C209-6AD3-9204F7483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132521">
            <a:off x="4769618" y="5073580"/>
            <a:ext cx="2652765" cy="127725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F27F0DA-0DE7-08B8-A2BA-3F209D32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833282">
            <a:off x="8124386" y="1698024"/>
            <a:ext cx="2652765" cy="1277257"/>
          </a:xfrm>
          <a:prstGeom prst="rect">
            <a:avLst/>
          </a:prstGeom>
        </p:spPr>
      </p:pic>
      <p:sp>
        <p:nvSpPr>
          <p:cNvPr id="8" name="Can 7">
            <a:extLst>
              <a:ext uri="{FF2B5EF4-FFF2-40B4-BE49-F238E27FC236}">
                <a16:creationId xmlns:a16="http://schemas.microsoft.com/office/drawing/2014/main" id="{130D24E4-ADC2-1D86-FB4B-AB8018207534}"/>
              </a:ext>
            </a:extLst>
          </p:cNvPr>
          <p:cNvSpPr/>
          <p:nvPr/>
        </p:nvSpPr>
        <p:spPr>
          <a:xfrm rot="2900441">
            <a:off x="3046470" y="929009"/>
            <a:ext cx="159657" cy="888773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00BC8E82-4439-59E9-77C0-E7FCB0442777}"/>
              </a:ext>
            </a:extLst>
          </p:cNvPr>
          <p:cNvSpPr/>
          <p:nvPr/>
        </p:nvSpPr>
        <p:spPr>
          <a:xfrm rot="6029648">
            <a:off x="5624507" y="5512551"/>
            <a:ext cx="159657" cy="287124"/>
          </a:xfrm>
          <a:prstGeom prst="can">
            <a:avLst>
              <a:gd name="adj" fmla="val 278338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EFFDBD7-8F2A-21F8-CF1E-2C6EAC28AE78}"/>
              </a:ext>
            </a:extLst>
          </p:cNvPr>
          <p:cNvSpPr/>
          <p:nvPr/>
        </p:nvSpPr>
        <p:spPr>
          <a:xfrm>
            <a:off x="9548645" y="2398666"/>
            <a:ext cx="155701" cy="155701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110106DD-8674-0036-7B7C-53A0F1B96F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31982"/>
            <a:ext cx="9144000" cy="1369228"/>
          </a:xfrm>
        </p:spPr>
        <p:txBody>
          <a:bodyPr anchor="ctr" anchorCtr="0"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The Fillies</a:t>
            </a:r>
          </a:p>
        </p:txBody>
      </p:sp>
      <p:pic>
        <p:nvPicPr>
          <p:cNvPr id="20" name="Picture 19" descr="A cartoon of a green monster&#10;&#10;AI-generated content may be incorrect.">
            <a:extLst>
              <a:ext uri="{FF2B5EF4-FFF2-40B4-BE49-F238E27FC236}">
                <a16:creationId xmlns:a16="http://schemas.microsoft.com/office/drawing/2014/main" id="{B18B0D56-3D42-425D-365F-AF83EA544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75" y="2487983"/>
            <a:ext cx="2569248" cy="200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18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D5F11-A768-5A10-42CE-0D7020380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32CD6354-78BD-8BF3-3E51-9E2ED6516F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2403" y="2934168"/>
            <a:ext cx="1821396" cy="31223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E88FB6-6C3D-7521-FB53-FCF5BCBC6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1836D0-989F-5662-DE46-B0ACFDE2B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38012" cy="4351338"/>
          </a:xfrm>
        </p:spPr>
        <p:txBody>
          <a:bodyPr>
            <a:norm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Need to track intracellular structures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Tracking protein aggregates is relevant to: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Understanding how eukaryotic cells survive stress and starvation (for bioproduction and biomedicine)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Neurodegenerative diseases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Cell motility (cancer, immunology)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Structural integrity (diseases of the vasculature)</a:t>
            </a:r>
          </a:p>
          <a:p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20577D4-B5F7-1AEF-4099-B5F16B386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711490">
            <a:off x="8015383" y="1045674"/>
            <a:ext cx="3697428" cy="1780243"/>
          </a:xfrm>
          <a:prstGeom prst="rect">
            <a:avLst/>
          </a:prstGeom>
        </p:spPr>
      </p:pic>
      <p:sp>
        <p:nvSpPr>
          <p:cNvPr id="4" name="Can 3">
            <a:extLst>
              <a:ext uri="{FF2B5EF4-FFF2-40B4-BE49-F238E27FC236}">
                <a16:creationId xmlns:a16="http://schemas.microsoft.com/office/drawing/2014/main" id="{F96FCEA3-9491-718D-84F2-50EB477AB171}"/>
              </a:ext>
            </a:extLst>
          </p:cNvPr>
          <p:cNvSpPr/>
          <p:nvPr/>
        </p:nvSpPr>
        <p:spPr>
          <a:xfrm rot="2900441">
            <a:off x="9337147" y="1539021"/>
            <a:ext cx="222530" cy="1238772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57A912-CDC8-4411-3876-B0B31C552FB6}"/>
              </a:ext>
            </a:extLst>
          </p:cNvPr>
          <p:cNvSpPr txBox="1"/>
          <p:nvPr/>
        </p:nvSpPr>
        <p:spPr>
          <a:xfrm>
            <a:off x="6505016" y="6457890"/>
            <a:ext cx="6098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cell-intermediate-filament icon by Servier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smart.servier.com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 is licensed under CC-BY 3.0 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Unported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creativecommons.org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/licenses/by/3.0/</a:t>
            </a:r>
          </a:p>
        </p:txBody>
      </p:sp>
    </p:spTree>
    <p:extLst>
      <p:ext uri="{BB962C8B-B14F-4D97-AF65-F5344CB8AC3E}">
        <p14:creationId xmlns:p14="http://schemas.microsoft.com/office/powerpoint/2010/main" val="31210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2786F-F27C-C744-9864-4E298550F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19C0-C110-A351-629C-E1E8AA8BE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Models Key Capabilities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374129-1045-D799-1D8D-A1AB4BD44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22764" cy="4351338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Easy interface to upload images and extract data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Inputs entire field of view, no manual cropping required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Detects filaments per cell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Tested against manual annotation and synthetic data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Outputs csv data displaying filament growth and change in angle</a:t>
            </a:r>
          </a:p>
          <a:p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796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79D6E-795C-C965-82EC-F1DE9DCD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3C8A9-D450-8807-A54C-AA57E806B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Future Directions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95363B-5978-5C85-B7E3-3E6A9A030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62590" cy="4351338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Compare filament growth rate in different strains, degrees of starvation and ura7 (filament forming protein) mutations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Using filament association with budding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Use z-stacks to further disentangle filament growth from filament rotation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Applying to situations with multiple filaments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65911C7-BE4B-B1C9-F5D4-492D20C52EEC}"/>
              </a:ext>
            </a:extLst>
          </p:cNvPr>
          <p:cNvGrpSpPr/>
          <p:nvPr/>
        </p:nvGrpSpPr>
        <p:grpSpPr>
          <a:xfrm>
            <a:off x="8217194" y="2675731"/>
            <a:ext cx="3277879" cy="1325563"/>
            <a:chOff x="3281475" y="3272117"/>
            <a:chExt cx="5453354" cy="2205318"/>
          </a:xfrm>
        </p:grpSpPr>
        <p:sp>
          <p:nvSpPr>
            <p:cNvPr id="4" name="Can 3">
              <a:extLst>
                <a:ext uri="{FF2B5EF4-FFF2-40B4-BE49-F238E27FC236}">
                  <a16:creationId xmlns:a16="http://schemas.microsoft.com/office/drawing/2014/main" id="{8B7E78D0-AAF0-59ED-5071-48D6EBCD12F7}"/>
                </a:ext>
              </a:extLst>
            </p:cNvPr>
            <p:cNvSpPr/>
            <p:nvPr/>
          </p:nvSpPr>
          <p:spPr>
            <a:xfrm rot="2900441">
              <a:off x="7563151" y="2595105"/>
              <a:ext cx="356851" cy="1986504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C1FFF08-65DD-DDBF-E792-99B85A1F2DBD}"/>
                </a:ext>
              </a:extLst>
            </p:cNvPr>
            <p:cNvSpPr/>
            <p:nvPr/>
          </p:nvSpPr>
          <p:spPr>
            <a:xfrm>
              <a:off x="3747454" y="341435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Can 6">
              <a:extLst>
                <a:ext uri="{FF2B5EF4-FFF2-40B4-BE49-F238E27FC236}">
                  <a16:creationId xmlns:a16="http://schemas.microsoft.com/office/drawing/2014/main" id="{D4713A1C-838E-62CC-F9AB-BF540BD0BE47}"/>
                </a:ext>
              </a:extLst>
            </p:cNvPr>
            <p:cNvSpPr/>
            <p:nvPr/>
          </p:nvSpPr>
          <p:spPr>
            <a:xfrm rot="2900441">
              <a:off x="5407919" y="3064930"/>
              <a:ext cx="356851" cy="1046851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7430F0C-7294-14B5-4A39-91554C49D35E}"/>
                </a:ext>
              </a:extLst>
            </p:cNvPr>
            <p:cNvSpPr/>
            <p:nvPr/>
          </p:nvSpPr>
          <p:spPr>
            <a:xfrm>
              <a:off x="3747453" y="4978697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3180C78-4E38-DD88-7889-45A3D2F801E7}"/>
                </a:ext>
              </a:extLst>
            </p:cNvPr>
            <p:cNvSpPr/>
            <p:nvPr/>
          </p:nvSpPr>
          <p:spPr>
            <a:xfrm>
              <a:off x="5412339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B1D69C5-1F72-745D-8B87-C1888A229DDA}"/>
                </a:ext>
              </a:extLst>
            </p:cNvPr>
            <p:cNvSpPr/>
            <p:nvPr/>
          </p:nvSpPr>
          <p:spPr>
            <a:xfrm>
              <a:off x="7567571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56E1C4F-C67D-66CA-A761-64A6EC1F4BDD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6B5D9BE-5F58-FB9C-E28D-047A80F1B5F3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2812543-192D-8DD9-6C16-4F570D0D5BDE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EA9DAF5-78CD-5C78-94DB-DE5B3D03FE72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61DA4BE-2FE8-3F68-FD53-6CCE8911F5FE}"/>
                </a:ext>
              </a:extLst>
            </p:cNvPr>
            <p:cNvGrpSpPr/>
            <p:nvPr/>
          </p:nvGrpSpPr>
          <p:grpSpPr>
            <a:xfrm>
              <a:off x="3281475" y="4840941"/>
              <a:ext cx="5056094" cy="636494"/>
              <a:chOff x="3249968" y="4840941"/>
              <a:chExt cx="5056094" cy="636494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4621921-9508-368D-1A0D-043B6A48C0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484094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76794E9-9202-57C2-0C4F-D9FB4EEA2E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159188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B40F2B9B-950F-F435-5DA7-8E1925E28D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477435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DEEB54D-E819-B402-45DF-59A78E6E6BF2}"/>
                </a:ext>
              </a:extLst>
            </p:cNvPr>
            <p:cNvGrpSpPr/>
            <p:nvPr/>
          </p:nvGrpSpPr>
          <p:grpSpPr>
            <a:xfrm>
              <a:off x="3281475" y="3272117"/>
              <a:ext cx="5056094" cy="636494"/>
              <a:chOff x="3232301" y="3272117"/>
              <a:chExt cx="5056094" cy="636494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621E2FF-C6F7-0CA7-C2CB-3A13BCEE2A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272117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57260A7-1883-5341-27C5-E407085A3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590364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C5AE048-433F-DA3F-16FF-FDE03C3E8E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90861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3922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3BD8C-C7C4-AF5E-AB8F-6D38B286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475F-653F-C7B6-F169-7C07EFDA0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04122C-1C2C-88CB-A0C0-15844DD70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69214"/>
          </a:xfrm>
        </p:spPr>
        <p:txBody>
          <a:bodyPr>
            <a:norm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Measuring filament growth rate requires disentangling from rotation</a:t>
            </a:r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8AE08E5B-5669-09AC-DB18-CC4B4B2F8424}"/>
              </a:ext>
            </a:extLst>
          </p:cNvPr>
          <p:cNvSpPr/>
          <p:nvPr/>
        </p:nvSpPr>
        <p:spPr>
          <a:xfrm rot="2900441">
            <a:off x="7563151" y="2595105"/>
            <a:ext cx="356851" cy="1986504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BB709DF-07E7-E15F-52E9-305DEDC2B2EB}"/>
              </a:ext>
            </a:extLst>
          </p:cNvPr>
          <p:cNvSpPr/>
          <p:nvPr/>
        </p:nvSpPr>
        <p:spPr>
          <a:xfrm>
            <a:off x="3747454" y="341435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9559C54-B695-B938-839E-7F8CDD6C7DCC}"/>
              </a:ext>
            </a:extLst>
          </p:cNvPr>
          <p:cNvSpPr/>
          <p:nvPr/>
        </p:nvSpPr>
        <p:spPr>
          <a:xfrm rot="2900441">
            <a:off x="5407919" y="3064930"/>
            <a:ext cx="356851" cy="1046851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F674036-8A1C-2537-EC34-2CCF37B7FA74}"/>
              </a:ext>
            </a:extLst>
          </p:cNvPr>
          <p:cNvSpPr/>
          <p:nvPr/>
        </p:nvSpPr>
        <p:spPr>
          <a:xfrm>
            <a:off x="3747453" y="4978697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2D9C655-F6DF-28B6-E8DF-72B0EAC97EC6}"/>
              </a:ext>
            </a:extLst>
          </p:cNvPr>
          <p:cNvSpPr/>
          <p:nvPr/>
        </p:nvSpPr>
        <p:spPr>
          <a:xfrm>
            <a:off x="5412339" y="497869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33ACC34-5DAD-7058-0E96-EF8672D4CFAB}"/>
              </a:ext>
            </a:extLst>
          </p:cNvPr>
          <p:cNvSpPr/>
          <p:nvPr/>
        </p:nvSpPr>
        <p:spPr>
          <a:xfrm>
            <a:off x="7567571" y="497869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1968F6-BBE5-9236-2909-314BC0805621}"/>
              </a:ext>
            </a:extLst>
          </p:cNvPr>
          <p:cNvCxnSpPr>
            <a:cxnSpLocks/>
          </p:cNvCxnSpPr>
          <p:nvPr/>
        </p:nvCxnSpPr>
        <p:spPr>
          <a:xfrm>
            <a:off x="4331710" y="3588355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AE03B5-22D1-151F-E213-531D906BCD0A}"/>
              </a:ext>
            </a:extLst>
          </p:cNvPr>
          <p:cNvCxnSpPr>
            <a:cxnSpLocks/>
          </p:cNvCxnSpPr>
          <p:nvPr/>
        </p:nvCxnSpPr>
        <p:spPr>
          <a:xfrm>
            <a:off x="6381504" y="3588355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D646BE-42A7-B4D9-65A7-F45770281EA9}"/>
              </a:ext>
            </a:extLst>
          </p:cNvPr>
          <p:cNvCxnSpPr>
            <a:cxnSpLocks/>
          </p:cNvCxnSpPr>
          <p:nvPr/>
        </p:nvCxnSpPr>
        <p:spPr>
          <a:xfrm>
            <a:off x="4331710" y="5152700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58A1C14-0ED0-802F-BD5F-5F93A372E168}"/>
              </a:ext>
            </a:extLst>
          </p:cNvPr>
          <p:cNvCxnSpPr>
            <a:cxnSpLocks/>
          </p:cNvCxnSpPr>
          <p:nvPr/>
        </p:nvCxnSpPr>
        <p:spPr>
          <a:xfrm>
            <a:off x="6381504" y="5152700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880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27424-68B8-019A-F7FE-1697471A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B2B15-E3B1-510C-75B1-F34179C99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One Solution: Connecting and Tracking  Z-Stacks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A1FF77-45B1-AD53-B86A-E771F7004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69214"/>
          </a:xfrm>
        </p:spPr>
        <p:txBody>
          <a:bodyPr>
            <a:norm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Measuring filament growth rate requires disentangling from rotation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31A388-FCF1-F542-583A-B9047A267F0C}"/>
              </a:ext>
            </a:extLst>
          </p:cNvPr>
          <p:cNvGrpSpPr/>
          <p:nvPr/>
        </p:nvGrpSpPr>
        <p:grpSpPr>
          <a:xfrm>
            <a:off x="3281475" y="3272117"/>
            <a:ext cx="5453354" cy="2205318"/>
            <a:chOff x="3281475" y="3272117"/>
            <a:chExt cx="5453354" cy="2205318"/>
          </a:xfrm>
        </p:grpSpPr>
        <p:sp>
          <p:nvSpPr>
            <p:cNvPr id="3" name="Can 2">
              <a:extLst>
                <a:ext uri="{FF2B5EF4-FFF2-40B4-BE49-F238E27FC236}">
                  <a16:creationId xmlns:a16="http://schemas.microsoft.com/office/drawing/2014/main" id="{3DAB23B9-C289-756E-8828-116099F924B7}"/>
                </a:ext>
              </a:extLst>
            </p:cNvPr>
            <p:cNvSpPr/>
            <p:nvPr/>
          </p:nvSpPr>
          <p:spPr>
            <a:xfrm rot="2900441">
              <a:off x="7563151" y="2595105"/>
              <a:ext cx="356851" cy="1986504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DF91532-1A43-08CD-FDFC-4460AD705EAB}"/>
                </a:ext>
              </a:extLst>
            </p:cNvPr>
            <p:cNvSpPr/>
            <p:nvPr/>
          </p:nvSpPr>
          <p:spPr>
            <a:xfrm>
              <a:off x="3747454" y="341435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Can 5">
              <a:extLst>
                <a:ext uri="{FF2B5EF4-FFF2-40B4-BE49-F238E27FC236}">
                  <a16:creationId xmlns:a16="http://schemas.microsoft.com/office/drawing/2014/main" id="{95586217-3ED9-6C08-C92F-107453677F3D}"/>
                </a:ext>
              </a:extLst>
            </p:cNvPr>
            <p:cNvSpPr/>
            <p:nvPr/>
          </p:nvSpPr>
          <p:spPr>
            <a:xfrm rot="2900441">
              <a:off x="5407919" y="3064930"/>
              <a:ext cx="356851" cy="1046851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3960152-F5D0-BE75-7D73-2AD6F9403A61}"/>
                </a:ext>
              </a:extLst>
            </p:cNvPr>
            <p:cNvSpPr/>
            <p:nvPr/>
          </p:nvSpPr>
          <p:spPr>
            <a:xfrm>
              <a:off x="3747453" y="4978697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A5CE578-F6D5-D870-65B2-7697F5B12839}"/>
                </a:ext>
              </a:extLst>
            </p:cNvPr>
            <p:cNvSpPr/>
            <p:nvPr/>
          </p:nvSpPr>
          <p:spPr>
            <a:xfrm>
              <a:off x="5412339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119C1A7-4E86-AC45-4FCF-1113C18CFC60}"/>
                </a:ext>
              </a:extLst>
            </p:cNvPr>
            <p:cNvSpPr/>
            <p:nvPr/>
          </p:nvSpPr>
          <p:spPr>
            <a:xfrm>
              <a:off x="7567571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D3DBCC2-AA03-399F-E0E7-2667ADD80386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4EF35F8-87E6-40F1-B29C-695AB7BE1D1B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3D33A4D-9FEE-681F-E292-E65AC2D374EA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2F1987E-D891-D8FF-9545-BE54719A1221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7CB9D10-95D1-7E79-A409-B2F296E36BDF}"/>
                </a:ext>
              </a:extLst>
            </p:cNvPr>
            <p:cNvGrpSpPr/>
            <p:nvPr/>
          </p:nvGrpSpPr>
          <p:grpSpPr>
            <a:xfrm>
              <a:off x="3281475" y="4840941"/>
              <a:ext cx="5056094" cy="636494"/>
              <a:chOff x="3249968" y="4840941"/>
              <a:chExt cx="5056094" cy="636494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432CCEC1-91DC-1D10-EE6C-37F6887AAC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484094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8602331-A44B-8C68-BC87-977DBB6BED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159188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58C3606-44CC-3291-025D-A1CD80B6B1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477435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71348C1-4628-5DAD-FA7E-6B71919EB319}"/>
                </a:ext>
              </a:extLst>
            </p:cNvPr>
            <p:cNvGrpSpPr/>
            <p:nvPr/>
          </p:nvGrpSpPr>
          <p:grpSpPr>
            <a:xfrm>
              <a:off x="3281475" y="3272117"/>
              <a:ext cx="5056094" cy="636494"/>
              <a:chOff x="3232301" y="3272117"/>
              <a:chExt cx="5056094" cy="636494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941ED134-FF55-0A8C-FB86-481CBDFBDE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272117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B65DEE9-73D4-5FF1-1B20-D88AD4C843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590364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90C83916-2959-BF71-A7DF-78B6DCF846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90861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83170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531</TotalTime>
  <Words>184</Words>
  <Application>Microsoft Macintosh PowerPoint</Application>
  <PresentationFormat>Widescreen</PresentationFormat>
  <Paragraphs>24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The Fillies</vt:lpstr>
      <vt:lpstr>Problem</vt:lpstr>
      <vt:lpstr>Models Key Capabilities</vt:lpstr>
      <vt:lpstr>Future Directions</vt:lpstr>
      <vt:lpstr>Problem</vt:lpstr>
      <vt:lpstr>One Solution: Connecting and Tracking  Z-Stacks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Vander Velde</dc:creator>
  <cp:lastModifiedBy>Robert Vander Velde</cp:lastModifiedBy>
  <cp:revision>34</cp:revision>
  <dcterms:created xsi:type="dcterms:W3CDTF">2026-03-21T09:38:37Z</dcterms:created>
  <dcterms:modified xsi:type="dcterms:W3CDTF">2026-03-21T18:35:29Z</dcterms:modified>
</cp:coreProperties>
</file>